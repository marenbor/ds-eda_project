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672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6" r:id="rId7"/>
    <p:sldId id="261" r:id="rId8"/>
    <p:sldId id="264" r:id="rId9"/>
    <p:sldId id="265" r:id="rId10"/>
    <p:sldId id="267" r:id="rId11"/>
    <p:sldId id="269" r:id="rId12"/>
    <p:sldId id="268" r:id="rId13"/>
    <p:sldId id="270" r:id="rId14"/>
    <p:sldId id="271" r:id="rId15"/>
    <p:sldId id="272" r:id="rId16"/>
    <p:sldId id="273" r:id="rId17"/>
    <p:sldId id="274" r:id="rId18"/>
    <p:sldId id="262" r:id="rId19"/>
    <p:sldId id="275" r:id="rId20"/>
    <p:sldId id="26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F7FEE72E-937D-2641-A6C1-D7A20C675B34}">
          <p14:sldIdLst>
            <p14:sldId id="256"/>
            <p14:sldId id="257"/>
            <p14:sldId id="258"/>
            <p14:sldId id="259"/>
            <p14:sldId id="266"/>
            <p14:sldId id="261"/>
            <p14:sldId id="264"/>
            <p14:sldId id="265"/>
            <p14:sldId id="267"/>
            <p14:sldId id="269"/>
            <p14:sldId id="268"/>
            <p14:sldId id="270"/>
            <p14:sldId id="271"/>
            <p14:sldId id="272"/>
            <p14:sldId id="273"/>
            <p14:sldId id="274"/>
            <p14:sldId id="262"/>
          </p14:sldIdLst>
        </p14:section>
        <p14:section name="Backup" id="{64EE5E5E-C3A6-1443-85A7-E3194CB8C2ED}">
          <p14:sldIdLst>
            <p14:sldId id="275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98"/>
    <p:restoredTop sz="70522"/>
  </p:normalViewPr>
  <p:slideViewPr>
    <p:cSldViewPr snapToGrid="0">
      <p:cViewPr varScale="1">
        <p:scale>
          <a:sx n="53" d="100"/>
          <a:sy n="53" d="100"/>
        </p:scale>
        <p:origin x="18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D76D7-B901-8E44-BB1E-2DD9E96B506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811FF-AC87-8A43-B326-6DA6161F953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6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05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Some missing values, I only needed variables without missing values</a:t>
            </a:r>
          </a:p>
          <a:p>
            <a:pPr marL="171450" indent="-1714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I had to change the variable date </a:t>
            </a:r>
          </a:p>
          <a:p>
            <a:pPr marL="171450" indent="-1714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Duplicate values 177, need to consider if that influences further analysis</a:t>
            </a:r>
          </a:p>
          <a:p>
            <a:pPr marL="171450" indent="-1714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pPr marL="171450" indent="-1714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/>
              <a:t>Overall good quality:</a:t>
            </a:r>
          </a:p>
          <a:p>
            <a:r>
              <a:rPr lang="en-US" dirty="0"/>
              <a:t>No values missing for variables of interest</a:t>
            </a:r>
          </a:p>
          <a:p>
            <a:r>
              <a:rPr lang="en-US" dirty="0"/>
              <a:t>Change of variable types</a:t>
            </a:r>
          </a:p>
          <a:p>
            <a:pPr marL="171450" indent="-171450">
              <a:buFont typeface="Wingdings" pitchFamily="2" charset="2"/>
              <a:buChar char="à"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50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</a:t>
            </a:r>
            <a:r>
              <a:rPr lang="en-US" dirty="0" err="1"/>
              <a:t>hyptheses</a:t>
            </a:r>
            <a:r>
              <a:rPr lang="en-US" dirty="0"/>
              <a:t> to give you the best recommendation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33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houses around </a:t>
            </a:r>
            <a:r>
              <a:rPr lang="en-US" dirty="0" err="1"/>
              <a:t>seattle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77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distribution by area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4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tx1"/>
                </a:solidFill>
                <a:latin typeface="Calisto MT" panose="02040603050505030304" pitchFamily="18" charset="77"/>
              </a:rPr>
              <a:t>Middle price range</a:t>
            </a:r>
            <a:r>
              <a:rPr lang="en-US" dirty="0">
                <a:solidFill>
                  <a:schemeClr val="tx1"/>
                </a:solidFill>
                <a:latin typeface="Calisto MT" panose="02040603050505030304" pitchFamily="18" charset="77"/>
              </a:rPr>
              <a:t>: 50% of all houses in price range $0.32 - $0.45 USD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29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Condition: coded from 1-5 with higher number indicate better condition, based on design/quality of construction and if repairs are needed</a:t>
            </a:r>
          </a:p>
          <a:p>
            <a:r>
              <a:rPr lang="en-US" dirty="0"/>
              <a:t>Grade: grading system goes from 1-13, with higher numbers better quality. Based on if it meets building standards, workmanship, materials, architectural design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69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Condition: coded from 1-5 with higher number indicate better condition, based on design/quality of construction and if repairs are needed</a:t>
            </a:r>
          </a:p>
          <a:p>
            <a:r>
              <a:rPr lang="en-US" dirty="0"/>
              <a:t>Grade: grading system goes from 1-13, with higher numbers better quality. Based on if it meets building standards, workmanship, materials, architectural design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34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interested in middle priced houses, divided houses by their price range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79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F7DB-8A94-B95D-33EF-05798D196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E23D17-8619-A31D-433E-824708DE3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5F65C54-FE6A-CE75-9113-D95C085F6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Condition: coded from 1-5 with higher number indicate better condition, based on design/quality of construction and if repairs are needed</a:t>
            </a:r>
          </a:p>
          <a:p>
            <a:r>
              <a:rPr lang="en-US" dirty="0"/>
              <a:t>Grade: grading system goes from 1-13, with higher numbers better quality. Based on if it meets building standards, workmanship, materials, architectural design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0E7603-F9F1-E3E2-3AFB-A0BCEE665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02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EF923-1864-E773-D8F0-3FEEF4AD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1D1F7CB-14BA-16E3-0ABE-114914F9C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7324FB2-4659-06DA-3396-080D9D101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Condition: coded from 1-5 with higher number indicate better condition, based on design/quality of construction and if repairs are needed</a:t>
            </a:r>
          </a:p>
          <a:p>
            <a:r>
              <a:rPr lang="en-US" dirty="0"/>
              <a:t>Grade: grading system goes from 1-13, with higher numbers better quality. Based on if it meets building standards, workmanship, materials, architectural design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E45294-0C40-7B98-2D01-52E54DC8F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44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D5C8-58D1-DA44-5F33-C141F9DA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1A002F-FD91-9630-E22D-215C0C9D8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F3896A-82AC-4CE6-4914-4ABF5C11C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Condition: coded from 1-5 with higher number indicate better condition, based on design/quality of construction and if repairs are needed</a:t>
            </a:r>
          </a:p>
          <a:p>
            <a:r>
              <a:rPr lang="en-US" dirty="0"/>
              <a:t>Grade: grading system goes from 1-13, with higher numbers better quality. Based on if it meets building standards, workmanship, materials, architectural design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F3BA97-26C0-83FD-ED9C-110E2052A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07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à"/>
              <a:tabLst/>
              <a:defRPr/>
            </a:pPr>
            <a:r>
              <a:rPr lang="en-US" dirty="0">
                <a:sym typeface="Wingdings" pitchFamily="2" charset="2"/>
              </a:rPr>
              <a:t>Future work: now only worked with the zip codes, </a:t>
            </a:r>
            <a:r>
              <a:rPr lang="en-US" dirty="0"/>
              <a:t>Analyze the impact of distance to central areas on price more precisely by calculating distance of the houses based on their location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6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I only needed variables without missing values</a:t>
            </a:r>
          </a:p>
          <a:p>
            <a:pPr marL="171450" indent="-1714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I had to change the variable date </a:t>
            </a:r>
          </a:p>
          <a:p>
            <a:pPr marL="171450" indent="-1714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Duplicate values, need to consider if that influences further analysis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811FF-AC87-8A43-B326-6DA6161F953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50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85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6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22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7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1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2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1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7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7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6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30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163AE-B125-25EC-B4FC-53C53898D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212863-03F9-0C17-4B0A-38F8CBBA0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F35B89-6CDB-E7BA-912D-1788B319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4D3CAE-D3B8-0C0F-1096-AC3A22663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A0B99D-E2FD-427F-5EAA-C19236ED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110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EE6A57-47D1-C2B1-9384-EEA86F98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E0218E-26AE-60B5-67AC-17761E630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19C398-39B3-64A1-A107-934C5B81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B4332E-EBCC-6306-7EF8-005169CB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7BB7F1-7B21-272C-55CB-BF4FCF4C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777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084D3-558C-DBAA-7DDF-E276C0B5B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AC9BAE-7AC4-178D-679F-094A1D4C2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E765B2-FC97-E9E4-53BF-08C24081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7DA875-67E4-E4D1-27C7-DE3A4C85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B87038-36EF-824C-1D9D-6F64E4C4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0111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84ED3-5C1A-524D-5125-0F4A4C72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AA9409-4287-67F0-0F57-7CE8BFE1D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45635C-ADD4-9B83-29C3-95BFCE141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2A416C-453A-60B8-F235-3EDFABD7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CBFE10-23FD-BDA5-097C-DA729CAA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3DE709-7551-D80F-14D0-CB14E387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870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2D9C83-AB32-3FBA-A89D-81473690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298248-E667-BA29-49CC-E08ACE7B2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6E041F-4BB1-1CD2-656E-1512BB95D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960E85A-F2D0-5004-3161-F85ACD81C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B5A7EE4-E65F-5D67-DDCA-F74218A44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5D3D1E3-6B7D-F9B3-5ACC-204374BA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F0D6EE2-2D74-FB4C-A214-00D87F36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4764147-E6E5-E0AB-2879-1384AD7C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440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799F7-926C-5C0D-6889-369DFF39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D42F1D-435F-6778-9E88-3FBF54020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5E6CFD6-2F35-1249-D968-9D9D4C6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427871-AAF6-D490-7DEA-5F557F71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0066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5DC6A8-D545-5B90-CBE5-D43B8AE3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12C972-10B9-A5F5-CB86-F644920F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4D95E2-C721-2096-8119-785A9EAB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759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03DA7-8AE8-C7A7-DF4C-EDDE035D5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70DE5B-7FC1-130B-DD55-B1D2F07CA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837FF0-4425-D947-93F3-CFC4F3C03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F71779-646A-4D1A-823D-FA931003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9B1948-3F86-0941-0D29-129CB17F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D727B-A260-7673-64FC-01DA35F3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9062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43E1D-D533-99F3-AEFE-D53367177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FEEA3E3-12C4-FF8C-C4A7-7E263277E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EF2440-340D-969F-46E9-6D941929A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DCA968-2CE7-73D4-0A88-5AA91997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6F786E-49C6-2FE7-FB19-A2E727C9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C74608-8B50-8C85-6B7E-2F8C0142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2384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7BD51-19E0-A133-C78A-75EBBB41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A71172-7040-575E-E4F0-6BB6D29AD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EE4853-250B-02F8-93EC-5ABFF6B9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BFC34C-DECA-1D43-3D01-7B04E149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4F150D-62AE-AA6C-B01C-D39F6BCC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9763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367644C-3E15-520A-FE54-464776B51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57BDB9-2EE8-6513-3634-4C400786F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D746DB-AC29-3D5C-2558-F8F3DB1D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168823-ADCC-74E6-4122-70937D10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4322B1-8312-EC33-DA8D-C1A571A0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8370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18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F323F25-A202-5415-8449-1162A00C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85A4D2-6D93-FE59-93B0-9A8C1BF6D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20F8FE-3EA5-4FA7-70B8-83A9D9DBD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2/14/25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FC0DD9-269E-BABF-9F4B-5FDBEB800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C0D586-D14F-E827-2155-1CCAD317C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1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hyperlink" Target="file:///Users/maren/Library/CloudStorage/OneDrive-Perso&#776;nlich/Dokumente/neue_fische/Week_3/EDA%20Project/ds-EDA_project/seattle_neighborhoods_map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Poster, Wandbilder Seattle skyline at sunset, WA, USA, 40x26.7 cm">
            <a:extLst>
              <a:ext uri="{FF2B5EF4-FFF2-40B4-BE49-F238E27FC236}">
                <a16:creationId xmlns:a16="http://schemas.microsoft.com/office/drawing/2014/main" id="{598EB64E-5914-850D-E338-4B4791F08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3" r="14689" b="-1"/>
          <a:stretch/>
        </p:blipFill>
        <p:spPr bwMode="auto">
          <a:xfrm>
            <a:off x="4876158" y="10"/>
            <a:ext cx="731584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0E5B655-44A1-DC9A-4CE1-8CF0F3A58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b="0" i="0" dirty="0">
                <a:effectLst/>
                <a:latin typeface="fkGroteskNeue"/>
              </a:rPr>
              <a:t>Unlocking The Ideal Seattle Home:</a:t>
            </a:r>
            <a:br>
              <a:rPr lang="en-US" sz="4000" b="0" i="0" dirty="0">
                <a:effectLst/>
                <a:latin typeface="fkGroteskNeue"/>
              </a:rPr>
            </a:br>
            <a:r>
              <a:rPr lang="en-US" sz="4000" dirty="0">
                <a:latin typeface="fkGroteskNeue"/>
              </a:rPr>
              <a:t>Your</a:t>
            </a:r>
            <a:r>
              <a:rPr lang="en-US" sz="4000" b="0" i="0" dirty="0">
                <a:effectLst/>
                <a:latin typeface="fkGroteskNeue"/>
              </a:rPr>
              <a:t> Key to Lively</a:t>
            </a:r>
            <a:r>
              <a:rPr lang="en-US" sz="4000" dirty="0">
                <a:latin typeface="fkGroteskNeue"/>
              </a:rPr>
              <a:t> and </a:t>
            </a:r>
            <a:r>
              <a:rPr lang="en-US" sz="4000" b="0" i="0" dirty="0">
                <a:effectLst/>
                <a:latin typeface="fkGroteskNeue"/>
              </a:rPr>
              <a:t>Central Living</a:t>
            </a:r>
            <a:endParaRPr lang="en-US" sz="40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DA4097-824C-BD3A-2BAE-970CCF41C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anchor="b">
            <a:normAutofit/>
          </a:bodyPr>
          <a:lstStyle/>
          <a:p>
            <a:r>
              <a:rPr lang="de-DE" sz="1800"/>
              <a:t>Maren Bormann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290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60D91D-364B-BA5C-F53A-40A92C2F9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en-US" dirty="0"/>
              <a:t>Your wishes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A3A772-8B07-452A-A49D-E0275E5AF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Nicole Johnson, buyer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Characteristics: </a:t>
            </a:r>
          </a:p>
          <a:p>
            <a:r>
              <a:rPr lang="en-US" dirty="0"/>
              <a:t>Lively, central neighborhood </a:t>
            </a:r>
          </a:p>
          <a:p>
            <a:r>
              <a:rPr lang="en-US" dirty="0"/>
              <a:t>Middle price range</a:t>
            </a:r>
          </a:p>
          <a:p>
            <a:r>
              <a:rPr lang="en-US" dirty="0"/>
              <a:t>Right timing (within a year)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2066" name="Straight Connector 2065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9C492719-4539-7138-3D29-7F10D6814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0" r="14951"/>
          <a:stretch/>
        </p:blipFill>
        <p:spPr bwMode="auto">
          <a:xfrm>
            <a:off x="7274560" y="1385998"/>
            <a:ext cx="4202057" cy="476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45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upe, die sinkende Leistung zeigt">
            <a:extLst>
              <a:ext uri="{FF2B5EF4-FFF2-40B4-BE49-F238E27FC236}">
                <a16:creationId xmlns:a16="http://schemas.microsoft.com/office/drawing/2014/main" id="{73C28502-8DCD-A911-1A51-9C86F5B16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2" r="37195" b="-2"/>
          <a:stretch/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D4B79ED-FC15-3B25-2E6D-615C504B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The dataset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FC8C3F-1DAD-E3FB-E749-3BE0714DA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Database with information on home sales in King County (USA) (2014 until 2015)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30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F2E08-1C75-CF17-E8A8-7C4969EC1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your ideal home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4C16B8-5AFA-7982-0E0C-4B0B35DBE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46516"/>
            <a:ext cx="10790730" cy="91439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de-DE" b="1" dirty="0">
                <a:solidFill>
                  <a:schemeClr val="tx1"/>
                </a:solidFill>
              </a:rPr>
              <a:t>1. </a:t>
            </a:r>
            <a:r>
              <a:rPr lang="de-DE" dirty="0">
                <a:solidFill>
                  <a:schemeClr val="tx1"/>
                </a:solidFill>
              </a:rPr>
              <a:t>House </a:t>
            </a:r>
            <a:r>
              <a:rPr lang="de-DE" b="1" dirty="0" err="1">
                <a:solidFill>
                  <a:schemeClr val="tx1"/>
                </a:solidFill>
              </a:rPr>
              <a:t>prices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are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higher</a:t>
            </a:r>
            <a:r>
              <a:rPr lang="de-DE" b="1" dirty="0">
                <a:solidFill>
                  <a:schemeClr val="tx1"/>
                </a:solidFill>
              </a:rPr>
              <a:t> in </a:t>
            </a:r>
            <a:r>
              <a:rPr lang="de-DE" b="1" dirty="0" err="1">
                <a:solidFill>
                  <a:schemeClr val="tx1"/>
                </a:solidFill>
              </a:rPr>
              <a:t>lively</a:t>
            </a:r>
            <a:r>
              <a:rPr lang="de-DE" b="1" dirty="0">
                <a:solidFill>
                  <a:schemeClr val="tx1"/>
                </a:solidFill>
              </a:rPr>
              <a:t> and </a:t>
            </a:r>
            <a:r>
              <a:rPr lang="de-DE" b="1" dirty="0" err="1">
                <a:solidFill>
                  <a:schemeClr val="tx1"/>
                </a:solidFill>
              </a:rPr>
              <a:t>central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neighborhoods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compared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to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less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lively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neighborhoods</a:t>
            </a:r>
            <a:r>
              <a:rPr lang="de-DE" dirty="0">
                <a:solidFill>
                  <a:schemeClr val="tx1"/>
                </a:solidFill>
              </a:rPr>
              <a:t>.</a:t>
            </a:r>
            <a:endParaRPr lang="de-DE" dirty="0">
              <a:solidFill>
                <a:schemeClr val="tx1"/>
              </a:solidFill>
              <a:effectLst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8A05356-D819-9275-3B8F-A3F755174A8C}"/>
              </a:ext>
            </a:extLst>
          </p:cNvPr>
          <p:cNvSpPr txBox="1">
            <a:spLocks/>
          </p:cNvSpPr>
          <p:nvPr/>
        </p:nvSpPr>
        <p:spPr>
          <a:xfrm>
            <a:off x="700635" y="3342570"/>
            <a:ext cx="10790730" cy="9143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de-DE" sz="1800" b="1" dirty="0">
                <a:solidFill>
                  <a:schemeClr val="tx1"/>
                </a:solidFill>
              </a:rPr>
              <a:t>2. </a:t>
            </a:r>
            <a:r>
              <a:rPr lang="de-DE" sz="1800" dirty="0" err="1">
                <a:solidFill>
                  <a:schemeClr val="tx1"/>
                </a:solidFill>
              </a:rPr>
              <a:t>Houses</a:t>
            </a:r>
            <a:r>
              <a:rPr lang="de-DE" sz="1800" dirty="0">
                <a:solidFill>
                  <a:schemeClr val="tx1"/>
                </a:solidFill>
              </a:rPr>
              <a:t> in </a:t>
            </a:r>
            <a:r>
              <a:rPr lang="de-DE" sz="1800" b="1" dirty="0" err="1">
                <a:solidFill>
                  <a:schemeClr val="tx1"/>
                </a:solidFill>
              </a:rPr>
              <a:t>central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areas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have</a:t>
            </a:r>
            <a:r>
              <a:rPr lang="de-DE" sz="1800" dirty="0">
                <a:solidFill>
                  <a:schemeClr val="tx1"/>
                </a:solidFill>
              </a:rPr>
              <a:t> a </a:t>
            </a:r>
            <a:r>
              <a:rPr lang="de-DE" sz="1800" b="1" dirty="0" err="1">
                <a:solidFill>
                  <a:schemeClr val="tx1"/>
                </a:solidFill>
              </a:rPr>
              <a:t>higher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average</a:t>
            </a:r>
            <a:r>
              <a:rPr lang="de-DE" sz="1800" b="1" dirty="0">
                <a:solidFill>
                  <a:schemeClr val="tx1"/>
                </a:solidFill>
              </a:rPr>
              <a:t> 'grade' and '</a:t>
            </a:r>
            <a:r>
              <a:rPr lang="de-DE" sz="1800" b="1" dirty="0" err="1">
                <a:solidFill>
                  <a:schemeClr val="tx1"/>
                </a:solidFill>
              </a:rPr>
              <a:t>condition</a:t>
            </a:r>
            <a:r>
              <a:rPr lang="de-DE" sz="1800" b="1" dirty="0">
                <a:solidFill>
                  <a:schemeClr val="tx1"/>
                </a:solidFill>
              </a:rPr>
              <a:t>' score </a:t>
            </a:r>
            <a:r>
              <a:rPr lang="de-DE" sz="1800" dirty="0" err="1">
                <a:solidFill>
                  <a:schemeClr val="tx1"/>
                </a:solidFill>
              </a:rPr>
              <a:t>compared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houses</a:t>
            </a:r>
            <a:r>
              <a:rPr lang="de-DE" sz="1800" dirty="0">
                <a:solidFill>
                  <a:schemeClr val="tx1"/>
                </a:solidFill>
              </a:rPr>
              <a:t> in </a:t>
            </a:r>
            <a:r>
              <a:rPr lang="de-DE" sz="1800" dirty="0" err="1">
                <a:solidFill>
                  <a:schemeClr val="tx1"/>
                </a:solidFill>
              </a:rPr>
              <a:t>less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central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locations</a:t>
            </a:r>
            <a:r>
              <a:rPr lang="de-DE" sz="1800" dirty="0">
                <a:solidFill>
                  <a:schemeClr val="tx1"/>
                </a:solidFill>
              </a:rPr>
              <a:t>.</a:t>
            </a:r>
            <a:endParaRPr lang="de-DE" dirty="0">
              <a:solidFill>
                <a:srgbClr val="CCCCCC"/>
              </a:solidFill>
              <a:effectLst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87F08818-0D26-F46F-C0C2-278E6F18D7D1}"/>
              </a:ext>
            </a:extLst>
          </p:cNvPr>
          <p:cNvSpPr txBox="1">
            <a:spLocks/>
          </p:cNvSpPr>
          <p:nvPr/>
        </p:nvSpPr>
        <p:spPr>
          <a:xfrm>
            <a:off x="700635" y="4616852"/>
            <a:ext cx="10790730" cy="9143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de-DE" sz="1800" b="1" dirty="0">
                <a:solidFill>
                  <a:schemeClr val="tx1"/>
                </a:solidFill>
              </a:rPr>
              <a:t>3. </a:t>
            </a:r>
            <a:r>
              <a:rPr lang="de-DE" sz="1800" dirty="0">
                <a:solidFill>
                  <a:schemeClr val="tx1"/>
                </a:solidFill>
              </a:rPr>
              <a:t>The </a:t>
            </a:r>
            <a:r>
              <a:rPr lang="de-DE" sz="1800" dirty="0" err="1">
                <a:solidFill>
                  <a:schemeClr val="tx1"/>
                </a:solidFill>
              </a:rPr>
              <a:t>best</a:t>
            </a:r>
            <a:r>
              <a:rPr lang="de-DE" sz="1800" dirty="0">
                <a:solidFill>
                  <a:schemeClr val="tx1"/>
                </a:solidFill>
              </a:rPr>
              <a:t> time </a:t>
            </a:r>
            <a:r>
              <a:rPr lang="de-DE" sz="1800" dirty="0" err="1">
                <a:solidFill>
                  <a:schemeClr val="tx1"/>
                </a:solidFill>
              </a:rPr>
              <a:t>to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buy</a:t>
            </a:r>
            <a:r>
              <a:rPr lang="de-DE" sz="1800" b="1" dirty="0">
                <a:solidFill>
                  <a:schemeClr val="tx1"/>
                </a:solidFill>
              </a:rPr>
              <a:t> a </a:t>
            </a:r>
            <a:r>
              <a:rPr lang="de-DE" sz="1800" b="1" dirty="0" err="1">
                <a:solidFill>
                  <a:schemeClr val="tx1"/>
                </a:solidFill>
              </a:rPr>
              <a:t>house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within</a:t>
            </a:r>
            <a:r>
              <a:rPr lang="de-DE" sz="1800" dirty="0">
                <a:solidFill>
                  <a:schemeClr val="tx1"/>
                </a:solidFill>
              </a:rPr>
              <a:t> a </a:t>
            </a:r>
            <a:r>
              <a:rPr lang="de-DE" sz="1800" dirty="0" err="1">
                <a:solidFill>
                  <a:schemeClr val="tx1"/>
                </a:solidFill>
              </a:rPr>
              <a:t>year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is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winter</a:t>
            </a:r>
            <a:r>
              <a:rPr lang="de-DE" sz="1800" dirty="0">
                <a:solidFill>
                  <a:schemeClr val="tx1"/>
                </a:solidFill>
              </a:rPr>
              <a:t>, due </a:t>
            </a:r>
            <a:r>
              <a:rPr lang="de-DE" sz="1800" dirty="0" err="1">
                <a:solidFill>
                  <a:schemeClr val="tx1"/>
                </a:solidFill>
              </a:rPr>
              <a:t>lower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competition</a:t>
            </a:r>
            <a:r>
              <a:rPr lang="de-DE" sz="1800" dirty="0">
                <a:solidFill>
                  <a:schemeClr val="tx1"/>
                </a:solidFill>
              </a:rPr>
              <a:t> and </a:t>
            </a:r>
            <a:r>
              <a:rPr lang="de-DE" sz="1800" dirty="0" err="1">
                <a:solidFill>
                  <a:schemeClr val="tx1"/>
                </a:solidFill>
              </a:rPr>
              <a:t>prices</a:t>
            </a:r>
            <a:r>
              <a:rPr lang="de-DE" sz="1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410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E9C6-3943-2020-5F8E-5782114E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102398-4909-38D8-1173-58EA9BBC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Hyphothesis</a:t>
            </a:r>
            <a:r>
              <a:rPr lang="en-US" dirty="0"/>
              <a:t>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999A8D-0A90-BCFD-9864-71E9AC61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971801"/>
            <a:ext cx="10790730" cy="91439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de-DE" dirty="0">
                <a:solidFill>
                  <a:schemeClr val="tx1"/>
                </a:solidFill>
              </a:rPr>
              <a:t>House </a:t>
            </a:r>
            <a:r>
              <a:rPr lang="de-DE" b="1" dirty="0" err="1">
                <a:solidFill>
                  <a:schemeClr val="tx1"/>
                </a:solidFill>
              </a:rPr>
              <a:t>prices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are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higher</a:t>
            </a:r>
            <a:r>
              <a:rPr lang="de-DE" b="1" dirty="0">
                <a:solidFill>
                  <a:schemeClr val="tx1"/>
                </a:solidFill>
              </a:rPr>
              <a:t> in </a:t>
            </a:r>
            <a:r>
              <a:rPr lang="de-DE" b="1" dirty="0" err="1">
                <a:solidFill>
                  <a:schemeClr val="tx1"/>
                </a:solidFill>
              </a:rPr>
              <a:t>lively</a:t>
            </a:r>
            <a:r>
              <a:rPr lang="de-DE" b="1" dirty="0">
                <a:solidFill>
                  <a:schemeClr val="tx1"/>
                </a:solidFill>
              </a:rPr>
              <a:t> and </a:t>
            </a:r>
            <a:r>
              <a:rPr lang="de-DE" b="1" dirty="0" err="1">
                <a:solidFill>
                  <a:schemeClr val="tx1"/>
                </a:solidFill>
              </a:rPr>
              <a:t>central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neighborhoods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compared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to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less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lively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neighborhoods</a:t>
            </a:r>
            <a:r>
              <a:rPr lang="de-DE" dirty="0">
                <a:solidFill>
                  <a:schemeClr val="tx1"/>
                </a:solidFill>
              </a:rPr>
              <a:t>.</a:t>
            </a:r>
            <a:endParaRPr lang="de-DE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650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C6097435-1517-D6CF-7B1C-8F37CEF5C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3"/>
            <a:ext cx="12192000" cy="6855738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584D9BCA-C5EF-CA08-A9FC-D75F452B5BD2}"/>
              </a:ext>
            </a:extLst>
          </p:cNvPr>
          <p:cNvSpPr txBox="1"/>
          <p:nvPr/>
        </p:nvSpPr>
        <p:spPr>
          <a:xfrm>
            <a:off x="8708571" y="6357258"/>
            <a:ext cx="3483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 browser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7558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F5C79F-1EE2-1C78-685B-D29A8D27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E2412B-75CF-6FFD-1967-A990E06DAD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07143" y="-90260"/>
            <a:ext cx="10690225" cy="1308100"/>
          </a:xfrm>
        </p:spPr>
        <p:txBody>
          <a:bodyPr>
            <a:normAutofit/>
          </a:bodyPr>
          <a:lstStyle/>
          <a:p>
            <a:r>
              <a:rPr lang="en-US" sz="3600" dirty="0"/>
              <a:t>Expensive homes elevate average housing prices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6267256-3FBA-3D6A-CED1-D7221E713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993" y="1053556"/>
            <a:ext cx="8507507" cy="5744119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6D76CE12-C87A-AF25-FDF6-B11CFDE6E31D}"/>
              </a:ext>
            </a:extLst>
          </p:cNvPr>
          <p:cNvCxnSpPr/>
          <p:nvPr/>
        </p:nvCxnSpPr>
        <p:spPr>
          <a:xfrm>
            <a:off x="1019175" y="879380"/>
            <a:ext cx="93948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14C43D96-1815-34D2-3B2F-7087100816F0}"/>
              </a:ext>
            </a:extLst>
          </p:cNvPr>
          <p:cNvSpPr/>
          <p:nvPr/>
        </p:nvSpPr>
        <p:spPr>
          <a:xfrm>
            <a:off x="2670629" y="3722914"/>
            <a:ext cx="1759856" cy="293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5BA5C2D-0999-4F82-B95F-AD559F8DBB8F}"/>
              </a:ext>
            </a:extLst>
          </p:cNvPr>
          <p:cNvSpPr/>
          <p:nvPr/>
        </p:nvSpPr>
        <p:spPr>
          <a:xfrm>
            <a:off x="2670629" y="6374945"/>
            <a:ext cx="1759856" cy="293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B917205-B95E-5977-AA61-100035E35D4C}"/>
              </a:ext>
            </a:extLst>
          </p:cNvPr>
          <p:cNvSpPr/>
          <p:nvPr/>
        </p:nvSpPr>
        <p:spPr>
          <a:xfrm>
            <a:off x="5567136" y="3722914"/>
            <a:ext cx="1759856" cy="293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7C8824F-778C-B5F9-3197-E6B4BE30A6A0}"/>
              </a:ext>
            </a:extLst>
          </p:cNvPr>
          <p:cNvSpPr/>
          <p:nvPr/>
        </p:nvSpPr>
        <p:spPr>
          <a:xfrm>
            <a:off x="5976257" y="6374945"/>
            <a:ext cx="1350735" cy="293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24980C1-8A0C-CBE2-4C19-AD6337697D98}"/>
              </a:ext>
            </a:extLst>
          </p:cNvPr>
          <p:cNvSpPr/>
          <p:nvPr/>
        </p:nvSpPr>
        <p:spPr>
          <a:xfrm>
            <a:off x="8270650" y="3722914"/>
            <a:ext cx="1853064" cy="293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99DA86-1B7B-B5E8-851E-BA400626857E}"/>
              </a:ext>
            </a:extLst>
          </p:cNvPr>
          <p:cNvSpPr/>
          <p:nvPr/>
        </p:nvSpPr>
        <p:spPr>
          <a:xfrm>
            <a:off x="8675914" y="6349090"/>
            <a:ext cx="1350735" cy="293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DD22-2FBF-8FC2-48DD-99C85B5E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67660-BE03-E48E-8DD6-F134EF0D1C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07143" y="-90260"/>
            <a:ext cx="10690225" cy="1308100"/>
          </a:xfrm>
        </p:spPr>
        <p:txBody>
          <a:bodyPr>
            <a:normAutofit/>
          </a:bodyPr>
          <a:lstStyle/>
          <a:p>
            <a:r>
              <a:rPr lang="en-US" sz="2800" dirty="0"/>
              <a:t>Average house prices by area – defined by centrality 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E0809C58-F5C9-7302-F4F2-F15B71C18B62}"/>
              </a:ext>
            </a:extLst>
          </p:cNvPr>
          <p:cNvCxnSpPr/>
          <p:nvPr/>
        </p:nvCxnSpPr>
        <p:spPr>
          <a:xfrm>
            <a:off x="1019175" y="879380"/>
            <a:ext cx="93948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3A2DCFAC-A063-4346-07C4-7AC965E9A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79" y="1152966"/>
            <a:ext cx="5552621" cy="449083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BA400FB-F0B6-09DB-EB14-9228CD0D1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1" y="1152966"/>
            <a:ext cx="5552620" cy="4490834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1006AE01-CCB1-A5FF-A22A-7505DE630983}"/>
              </a:ext>
            </a:extLst>
          </p:cNvPr>
          <p:cNvSpPr/>
          <p:nvPr/>
        </p:nvSpPr>
        <p:spPr>
          <a:xfrm>
            <a:off x="1875972" y="2989947"/>
            <a:ext cx="769257" cy="1680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B4CCD3B-075B-CE1F-F164-1ADFFFFF9C2D}"/>
              </a:ext>
            </a:extLst>
          </p:cNvPr>
          <p:cNvSpPr/>
          <p:nvPr/>
        </p:nvSpPr>
        <p:spPr>
          <a:xfrm>
            <a:off x="10225315" y="2997208"/>
            <a:ext cx="769257" cy="1680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14BD3A6-49E4-AEC0-D85C-99EC2F8E33E1}"/>
              </a:ext>
            </a:extLst>
          </p:cNvPr>
          <p:cNvSpPr txBox="1"/>
          <p:nvPr/>
        </p:nvSpPr>
        <p:spPr>
          <a:xfrm>
            <a:off x="907143" y="6129710"/>
            <a:ext cx="102365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77"/>
              </a:rPr>
              <a:t>Houses in residential area </a:t>
            </a:r>
            <a:r>
              <a:rPr lang="de-DE" sz="2000" b="1" dirty="0" err="1">
                <a:solidFill>
                  <a:schemeClr val="tx1"/>
                </a:solidFill>
                <a:latin typeface="Calisto MT" panose="02040603050505030304" pitchFamily="18" charset="77"/>
              </a:rPr>
              <a:t>offer</a:t>
            </a:r>
            <a:r>
              <a:rPr lang="de-DE" sz="2000" b="1" dirty="0">
                <a:solidFill>
                  <a:schemeClr val="tx1"/>
                </a:solidFill>
                <a:latin typeface="Calisto MT" panose="02040603050505030304" pitchFamily="18" charset="77"/>
              </a:rPr>
              <a:t> </a:t>
            </a:r>
            <a:r>
              <a:rPr lang="de-DE" sz="2000" b="1" dirty="0" err="1">
                <a:solidFill>
                  <a:schemeClr val="tx1"/>
                </a:solidFill>
                <a:latin typeface="Calisto MT" panose="02040603050505030304" pitchFamily="18" charset="77"/>
              </a:rPr>
              <a:t>balanced</a:t>
            </a:r>
            <a:r>
              <a:rPr lang="de-DE" sz="2000" b="1" dirty="0">
                <a:solidFill>
                  <a:schemeClr val="tx1"/>
                </a:solidFill>
                <a:latin typeface="Calisto MT" panose="02040603050505030304" pitchFamily="18" charset="77"/>
              </a:rPr>
              <a:t> </a:t>
            </a:r>
            <a:r>
              <a:rPr lang="de-DE" sz="2000" b="1" dirty="0" err="1">
                <a:solidFill>
                  <a:schemeClr val="tx1"/>
                </a:solidFill>
                <a:latin typeface="Calisto MT" panose="02040603050505030304" pitchFamily="18" charset="77"/>
              </a:rPr>
              <a:t>combination</a:t>
            </a:r>
            <a:r>
              <a:rPr lang="de-DE" sz="2000" b="1" dirty="0">
                <a:solidFill>
                  <a:schemeClr val="tx1"/>
                </a:solidFill>
                <a:latin typeface="Calisto MT" panose="02040603050505030304" pitchFamily="18" charset="77"/>
              </a:rPr>
              <a:t> </a:t>
            </a:r>
            <a:r>
              <a:rPr lang="de-DE" sz="2000" b="1" dirty="0" err="1">
                <a:solidFill>
                  <a:schemeClr val="tx1"/>
                </a:solidFill>
                <a:latin typeface="Calisto MT" panose="02040603050505030304" pitchFamily="18" charset="77"/>
              </a:rPr>
              <a:t>of</a:t>
            </a:r>
            <a:r>
              <a:rPr lang="de-DE" sz="2000" b="1" dirty="0">
                <a:solidFill>
                  <a:schemeClr val="tx1"/>
                </a:solidFill>
                <a:latin typeface="Calisto MT" panose="02040603050505030304" pitchFamily="18" charset="77"/>
              </a:rPr>
              <a:t> </a:t>
            </a:r>
            <a:r>
              <a:rPr lang="de-DE" sz="2000" b="1" dirty="0" err="1">
                <a:solidFill>
                  <a:schemeClr val="tx1"/>
                </a:solidFill>
                <a:latin typeface="Calisto MT" panose="02040603050505030304" pitchFamily="18" charset="77"/>
              </a:rPr>
              <a:t>affordability</a:t>
            </a:r>
            <a:r>
              <a:rPr lang="de-DE" sz="2000" b="1" dirty="0">
                <a:solidFill>
                  <a:schemeClr val="tx1"/>
                </a:solidFill>
                <a:latin typeface="Calisto MT" panose="02040603050505030304" pitchFamily="18" charset="77"/>
              </a:rPr>
              <a:t> and </a:t>
            </a:r>
            <a:r>
              <a:rPr lang="de-DE" sz="2000" b="1" dirty="0" err="1">
                <a:solidFill>
                  <a:schemeClr val="tx1"/>
                </a:solidFill>
                <a:latin typeface="Calisto MT" panose="02040603050505030304" pitchFamily="18" charset="77"/>
              </a:rPr>
              <a:t>central</a:t>
            </a:r>
            <a:r>
              <a:rPr lang="de-DE" sz="2000" b="1" dirty="0">
                <a:solidFill>
                  <a:schemeClr val="tx1"/>
                </a:solidFill>
                <a:latin typeface="Calisto MT" panose="02040603050505030304" pitchFamily="18" charset="77"/>
              </a:rPr>
              <a:t> </a:t>
            </a:r>
            <a:r>
              <a:rPr lang="de-DE" sz="2000" b="1" dirty="0" err="1">
                <a:solidFill>
                  <a:schemeClr val="tx1"/>
                </a:solidFill>
                <a:latin typeface="Calisto MT" panose="02040603050505030304" pitchFamily="18" charset="77"/>
              </a:rPr>
              <a:t>location</a:t>
            </a:r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738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6CAD-C14B-72A8-066C-27E58C4F6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70CE3-24DF-0D11-819E-13FDC951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Hyphothesis</a:t>
            </a:r>
            <a:r>
              <a:rPr lang="en-US" dirty="0"/>
              <a:t>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F9A3F-1868-F298-4385-9ECE9BFEA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68500"/>
            <a:ext cx="10790730" cy="110061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de-DE" dirty="0">
                <a:solidFill>
                  <a:schemeClr val="tx1"/>
                </a:solidFill>
              </a:rPr>
              <a:t>House </a:t>
            </a:r>
            <a:r>
              <a:rPr lang="de-DE" b="1" dirty="0" err="1">
                <a:solidFill>
                  <a:schemeClr val="tx1"/>
                </a:solidFill>
              </a:rPr>
              <a:t>prices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are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higher</a:t>
            </a:r>
            <a:r>
              <a:rPr lang="de-DE" b="1" dirty="0">
                <a:solidFill>
                  <a:schemeClr val="tx1"/>
                </a:solidFill>
              </a:rPr>
              <a:t> in </a:t>
            </a:r>
            <a:r>
              <a:rPr lang="de-DE" b="1" dirty="0" err="1">
                <a:solidFill>
                  <a:schemeClr val="tx1"/>
                </a:solidFill>
              </a:rPr>
              <a:t>lively</a:t>
            </a:r>
            <a:r>
              <a:rPr lang="de-DE" b="1" dirty="0">
                <a:solidFill>
                  <a:schemeClr val="tx1"/>
                </a:solidFill>
              </a:rPr>
              <a:t> and </a:t>
            </a:r>
            <a:r>
              <a:rPr lang="de-DE" b="1" dirty="0" err="1">
                <a:solidFill>
                  <a:schemeClr val="tx1"/>
                </a:solidFill>
              </a:rPr>
              <a:t>central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neighborhoods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compared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to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less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lively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neighborhoods</a:t>
            </a:r>
            <a:r>
              <a:rPr lang="de-DE" dirty="0">
                <a:solidFill>
                  <a:schemeClr val="tx1"/>
                </a:solidFill>
              </a:rPr>
              <a:t>.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F34F056-A423-1200-A9BE-4569A57480C4}"/>
              </a:ext>
            </a:extLst>
          </p:cNvPr>
          <p:cNvSpPr txBox="1"/>
          <p:nvPr/>
        </p:nvSpPr>
        <p:spPr>
          <a:xfrm>
            <a:off x="1048817" y="3788881"/>
            <a:ext cx="100943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u="sng" dirty="0"/>
              <a:t>Centrality has an impact on the price, however, isolated and wealthy areas are even more expensive</a:t>
            </a:r>
            <a:endParaRPr lang="en-US" sz="2000" u="sng" dirty="0">
              <a:latin typeface="Calisto MT" panose="02040603050505030304" pitchFamily="18" charset="77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989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8FF2-CA16-E3AF-974A-058F49F5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339924-6263-00CC-EAB1-7B341446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Hyphothesis</a:t>
            </a:r>
            <a:r>
              <a:rPr lang="en-US" dirty="0"/>
              <a:t> 2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A3EF14EA-7565-146A-00D1-F3A7E23DFE48}"/>
              </a:ext>
            </a:extLst>
          </p:cNvPr>
          <p:cNvSpPr txBox="1">
            <a:spLocks/>
          </p:cNvSpPr>
          <p:nvPr/>
        </p:nvSpPr>
        <p:spPr>
          <a:xfrm>
            <a:off x="700635" y="3177470"/>
            <a:ext cx="10790730" cy="9143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de-DE" sz="1800" dirty="0" err="1">
                <a:solidFill>
                  <a:schemeClr val="tx1"/>
                </a:solidFill>
              </a:rPr>
              <a:t>Houses</a:t>
            </a:r>
            <a:r>
              <a:rPr lang="de-DE" sz="1800" dirty="0">
                <a:solidFill>
                  <a:schemeClr val="tx1"/>
                </a:solidFill>
              </a:rPr>
              <a:t> in </a:t>
            </a:r>
            <a:r>
              <a:rPr lang="de-DE" sz="1800" b="1" dirty="0" err="1">
                <a:solidFill>
                  <a:schemeClr val="tx1"/>
                </a:solidFill>
              </a:rPr>
              <a:t>central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areas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have</a:t>
            </a:r>
            <a:r>
              <a:rPr lang="de-DE" sz="1800" dirty="0">
                <a:solidFill>
                  <a:schemeClr val="tx1"/>
                </a:solidFill>
              </a:rPr>
              <a:t> a </a:t>
            </a:r>
            <a:r>
              <a:rPr lang="de-DE" sz="1800" b="1" dirty="0" err="1">
                <a:solidFill>
                  <a:schemeClr val="tx1"/>
                </a:solidFill>
              </a:rPr>
              <a:t>higher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average</a:t>
            </a:r>
            <a:r>
              <a:rPr lang="de-DE" sz="1800" b="1" dirty="0">
                <a:solidFill>
                  <a:schemeClr val="tx1"/>
                </a:solidFill>
              </a:rPr>
              <a:t> 'grade' and '</a:t>
            </a:r>
            <a:r>
              <a:rPr lang="de-DE" sz="1800" b="1" dirty="0" err="1">
                <a:solidFill>
                  <a:schemeClr val="tx1"/>
                </a:solidFill>
              </a:rPr>
              <a:t>condition</a:t>
            </a:r>
            <a:r>
              <a:rPr lang="de-DE" sz="1800" b="1" dirty="0">
                <a:solidFill>
                  <a:schemeClr val="tx1"/>
                </a:solidFill>
              </a:rPr>
              <a:t>' score </a:t>
            </a:r>
            <a:r>
              <a:rPr lang="de-DE" sz="1800" dirty="0" err="1">
                <a:solidFill>
                  <a:schemeClr val="tx1"/>
                </a:solidFill>
              </a:rPr>
              <a:t>compared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houses</a:t>
            </a:r>
            <a:r>
              <a:rPr lang="de-DE" sz="1800" dirty="0">
                <a:solidFill>
                  <a:schemeClr val="tx1"/>
                </a:solidFill>
              </a:rPr>
              <a:t> in </a:t>
            </a:r>
            <a:r>
              <a:rPr lang="de-DE" sz="1800" dirty="0" err="1">
                <a:solidFill>
                  <a:schemeClr val="tx1"/>
                </a:solidFill>
              </a:rPr>
              <a:t>less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central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locations</a:t>
            </a:r>
            <a:r>
              <a:rPr lang="de-DE" sz="1800" dirty="0">
                <a:solidFill>
                  <a:schemeClr val="tx1"/>
                </a:solidFill>
              </a:rPr>
              <a:t>.</a:t>
            </a:r>
            <a:endParaRPr lang="de-DE" b="1" dirty="0">
              <a:solidFill>
                <a:srgbClr val="CCCCCC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32736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6855D-402F-8DAC-3141-93488BDB4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C38D8-D921-A0D0-D48F-2843BE5760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4632" y="-120114"/>
            <a:ext cx="10690225" cy="1308101"/>
          </a:xfrm>
        </p:spPr>
        <p:txBody>
          <a:bodyPr>
            <a:normAutofit/>
          </a:bodyPr>
          <a:lstStyle/>
          <a:p>
            <a:r>
              <a:rPr lang="en-US" sz="2800" dirty="0"/>
              <a:t>Average house grade and condition score by area – defined by centrality 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D2648717-F784-6876-345A-F80A69ECBBEE}"/>
              </a:ext>
            </a:extLst>
          </p:cNvPr>
          <p:cNvCxnSpPr>
            <a:cxnSpLocks/>
          </p:cNvCxnSpPr>
          <p:nvPr/>
        </p:nvCxnSpPr>
        <p:spPr>
          <a:xfrm>
            <a:off x="594632" y="879380"/>
            <a:ext cx="98193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B1E243D3-4934-44C1-B072-8138436E7777}"/>
              </a:ext>
            </a:extLst>
          </p:cNvPr>
          <p:cNvSpPr txBox="1"/>
          <p:nvPr/>
        </p:nvSpPr>
        <p:spPr>
          <a:xfrm>
            <a:off x="594632" y="5833110"/>
            <a:ext cx="10236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Calisto MT" panose="02040603050505030304" pitchFamily="18" charset="77"/>
              </a:rPr>
              <a:t>Houses in expensive area have highest average grade and condition score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latin typeface="Calisto MT" panose="02040603050505030304" pitchFamily="18" charset="77"/>
              </a:rPr>
              <a:t>Average scores overall very similar in different areas</a:t>
            </a:r>
            <a:endParaRPr lang="en-US" sz="2000" dirty="0">
              <a:solidFill>
                <a:schemeClr val="tx1"/>
              </a:solidFill>
              <a:latin typeface="Calisto MT" panose="02040603050505030304" pitchFamily="18" charset="77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A387C85-3A6A-99E9-C8E4-AC6D57165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88" y="1082298"/>
            <a:ext cx="9325656" cy="4693404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D7C530B-7A53-36B2-8E3F-B5134EE9FCDC}"/>
              </a:ext>
            </a:extLst>
          </p:cNvPr>
          <p:cNvSpPr/>
          <p:nvPr/>
        </p:nvSpPr>
        <p:spPr>
          <a:xfrm>
            <a:off x="4479473" y="1347468"/>
            <a:ext cx="651328" cy="36055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6EDED0-7548-1621-3F26-663902EE7728}"/>
              </a:ext>
            </a:extLst>
          </p:cNvPr>
          <p:cNvSpPr/>
          <p:nvPr/>
        </p:nvSpPr>
        <p:spPr>
          <a:xfrm>
            <a:off x="9370127" y="1347467"/>
            <a:ext cx="651328" cy="36055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9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9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C9C7A-9AF8-EFC1-145A-7C76EF49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7896A0-852E-D64E-70E6-DD8DB4446C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4632" y="-120114"/>
            <a:ext cx="10690225" cy="1308101"/>
          </a:xfrm>
        </p:spPr>
        <p:txBody>
          <a:bodyPr>
            <a:normAutofit/>
          </a:bodyPr>
          <a:lstStyle/>
          <a:p>
            <a:r>
              <a:rPr lang="en-US" sz="2800" dirty="0"/>
              <a:t>Average house grade and condition by price range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D506BA00-53CA-9451-3E10-7295C37881AE}"/>
              </a:ext>
            </a:extLst>
          </p:cNvPr>
          <p:cNvCxnSpPr>
            <a:cxnSpLocks/>
          </p:cNvCxnSpPr>
          <p:nvPr/>
        </p:nvCxnSpPr>
        <p:spPr>
          <a:xfrm>
            <a:off x="594632" y="879380"/>
            <a:ext cx="98193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14273B66-222E-27F1-8B5E-44690D04BC12}"/>
              </a:ext>
            </a:extLst>
          </p:cNvPr>
          <p:cNvSpPr txBox="1"/>
          <p:nvPr/>
        </p:nvSpPr>
        <p:spPr>
          <a:xfrm>
            <a:off x="821483" y="5988239"/>
            <a:ext cx="102365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alisto MT" panose="02040603050505030304" pitchFamily="18" charset="77"/>
              </a:rPr>
              <a:t>Middle priced houses have </a:t>
            </a:r>
            <a:r>
              <a:rPr lang="en-US" sz="2000" dirty="0"/>
              <a:t>grade in the mid-range </a:t>
            </a:r>
            <a:endParaRPr lang="en-US" sz="2000" dirty="0">
              <a:solidFill>
                <a:schemeClr val="tx1"/>
              </a:solidFill>
              <a:latin typeface="Calisto MT" panose="02040603050505030304" pitchFamily="18" charset="77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7C2ED92-5E84-8F71-F883-BF633B0F9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1064187"/>
            <a:ext cx="8858250" cy="4729626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5B0AEE2-FFEA-8FE8-967B-93B4BE111FF5}"/>
              </a:ext>
            </a:extLst>
          </p:cNvPr>
          <p:cNvSpPr/>
          <p:nvPr/>
        </p:nvSpPr>
        <p:spPr>
          <a:xfrm>
            <a:off x="3227615" y="1853483"/>
            <a:ext cx="1128485" cy="38261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7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4E2B0-6D6E-199D-F1BF-8C57B350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D654DD-013C-7F55-C44F-27675821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Hyphothesis</a:t>
            </a:r>
            <a:r>
              <a:rPr lang="en-US" dirty="0"/>
              <a:t> 2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FD331A8-6202-8256-4B24-D2DC79A74E4F}"/>
              </a:ext>
            </a:extLst>
          </p:cNvPr>
          <p:cNvSpPr txBox="1">
            <a:spLocks/>
          </p:cNvSpPr>
          <p:nvPr/>
        </p:nvSpPr>
        <p:spPr>
          <a:xfrm>
            <a:off x="700635" y="2221992"/>
            <a:ext cx="10790730" cy="9143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de-DE" sz="1800" dirty="0" err="1">
                <a:solidFill>
                  <a:schemeClr val="tx1"/>
                </a:solidFill>
              </a:rPr>
              <a:t>Houses</a:t>
            </a:r>
            <a:r>
              <a:rPr lang="de-DE" sz="1800" dirty="0">
                <a:solidFill>
                  <a:schemeClr val="tx1"/>
                </a:solidFill>
              </a:rPr>
              <a:t> in </a:t>
            </a:r>
            <a:r>
              <a:rPr lang="de-DE" sz="1800" b="1" dirty="0" err="1">
                <a:solidFill>
                  <a:schemeClr val="tx1"/>
                </a:solidFill>
              </a:rPr>
              <a:t>central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areas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have</a:t>
            </a:r>
            <a:r>
              <a:rPr lang="de-DE" sz="1800" dirty="0">
                <a:solidFill>
                  <a:schemeClr val="tx1"/>
                </a:solidFill>
              </a:rPr>
              <a:t> a </a:t>
            </a:r>
            <a:r>
              <a:rPr lang="de-DE" sz="1800" b="1" dirty="0" err="1">
                <a:solidFill>
                  <a:schemeClr val="tx1"/>
                </a:solidFill>
              </a:rPr>
              <a:t>higher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average</a:t>
            </a:r>
            <a:r>
              <a:rPr lang="de-DE" sz="1800" b="1" dirty="0">
                <a:solidFill>
                  <a:schemeClr val="tx1"/>
                </a:solidFill>
              </a:rPr>
              <a:t> 'grade' and '</a:t>
            </a:r>
            <a:r>
              <a:rPr lang="de-DE" sz="1800" b="1" dirty="0" err="1">
                <a:solidFill>
                  <a:schemeClr val="tx1"/>
                </a:solidFill>
              </a:rPr>
              <a:t>condition</a:t>
            </a:r>
            <a:r>
              <a:rPr lang="de-DE" sz="1800" b="1" dirty="0">
                <a:solidFill>
                  <a:schemeClr val="tx1"/>
                </a:solidFill>
              </a:rPr>
              <a:t>' score </a:t>
            </a:r>
            <a:r>
              <a:rPr lang="de-DE" sz="1800" dirty="0" err="1">
                <a:solidFill>
                  <a:schemeClr val="tx1"/>
                </a:solidFill>
              </a:rPr>
              <a:t>compared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houses</a:t>
            </a:r>
            <a:r>
              <a:rPr lang="de-DE" sz="1800" dirty="0">
                <a:solidFill>
                  <a:schemeClr val="tx1"/>
                </a:solidFill>
              </a:rPr>
              <a:t> in </a:t>
            </a:r>
            <a:r>
              <a:rPr lang="de-DE" sz="1800" dirty="0" err="1">
                <a:solidFill>
                  <a:schemeClr val="tx1"/>
                </a:solidFill>
              </a:rPr>
              <a:t>less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central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locations</a:t>
            </a:r>
            <a:r>
              <a:rPr lang="de-DE" sz="1800" dirty="0">
                <a:solidFill>
                  <a:schemeClr val="tx1"/>
                </a:solidFill>
              </a:rPr>
              <a:t>.</a:t>
            </a:r>
            <a:endParaRPr lang="de-DE" b="1" dirty="0">
              <a:solidFill>
                <a:srgbClr val="CCCCCC"/>
              </a:solidFill>
              <a:effectLst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A82EC3F-39FF-9CCD-7721-49C922B32C5D}"/>
              </a:ext>
            </a:extLst>
          </p:cNvPr>
          <p:cNvSpPr txBox="1"/>
          <p:nvPr/>
        </p:nvSpPr>
        <p:spPr>
          <a:xfrm>
            <a:off x="1048817" y="3788881"/>
            <a:ext cx="100943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u="sng" dirty="0"/>
              <a:t>Scores were overall very similar, but wealthy and isolated areas have highest grade</a:t>
            </a:r>
            <a:endParaRPr lang="en-US" sz="2000" u="sng" dirty="0">
              <a:latin typeface="Calisto MT" panose="02040603050505030304" pitchFamily="18" charset="77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984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6E11-EEBE-5BFD-C7F3-0FD850913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23CD4-3C5A-FE9A-0D4F-C0A3506F2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Hyphothesis</a:t>
            </a:r>
            <a:r>
              <a:rPr lang="en-US" dirty="0"/>
              <a:t>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F0AD27-0CE1-41D2-5EC1-68916FDE0F09}"/>
              </a:ext>
            </a:extLst>
          </p:cNvPr>
          <p:cNvSpPr txBox="1">
            <a:spLocks/>
          </p:cNvSpPr>
          <p:nvPr/>
        </p:nvSpPr>
        <p:spPr>
          <a:xfrm>
            <a:off x="700635" y="3130952"/>
            <a:ext cx="10790730" cy="9143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de-DE" sz="1800" dirty="0">
                <a:solidFill>
                  <a:schemeClr val="tx1"/>
                </a:solidFill>
              </a:rPr>
              <a:t>The </a:t>
            </a:r>
            <a:r>
              <a:rPr lang="de-DE" sz="1800" dirty="0" err="1">
                <a:solidFill>
                  <a:schemeClr val="tx1"/>
                </a:solidFill>
              </a:rPr>
              <a:t>best</a:t>
            </a:r>
            <a:r>
              <a:rPr lang="de-DE" sz="1800" dirty="0">
                <a:solidFill>
                  <a:schemeClr val="tx1"/>
                </a:solidFill>
              </a:rPr>
              <a:t> time </a:t>
            </a:r>
            <a:r>
              <a:rPr lang="de-DE" sz="1800" dirty="0" err="1">
                <a:solidFill>
                  <a:schemeClr val="tx1"/>
                </a:solidFill>
              </a:rPr>
              <a:t>to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buy</a:t>
            </a:r>
            <a:r>
              <a:rPr lang="de-DE" sz="1800" b="1" dirty="0">
                <a:solidFill>
                  <a:schemeClr val="tx1"/>
                </a:solidFill>
              </a:rPr>
              <a:t> a </a:t>
            </a:r>
            <a:r>
              <a:rPr lang="de-DE" sz="1800" b="1" dirty="0" err="1">
                <a:solidFill>
                  <a:schemeClr val="tx1"/>
                </a:solidFill>
              </a:rPr>
              <a:t>house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within</a:t>
            </a:r>
            <a:r>
              <a:rPr lang="de-DE" sz="1800" dirty="0">
                <a:solidFill>
                  <a:schemeClr val="tx1"/>
                </a:solidFill>
              </a:rPr>
              <a:t> a </a:t>
            </a:r>
            <a:r>
              <a:rPr lang="de-DE" sz="1800" dirty="0" err="1">
                <a:solidFill>
                  <a:schemeClr val="tx1"/>
                </a:solidFill>
              </a:rPr>
              <a:t>year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is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winter</a:t>
            </a:r>
            <a:r>
              <a:rPr lang="de-DE" sz="1800" dirty="0">
                <a:solidFill>
                  <a:schemeClr val="tx1"/>
                </a:solidFill>
              </a:rPr>
              <a:t>, due </a:t>
            </a:r>
            <a:r>
              <a:rPr lang="de-DE" sz="1800" dirty="0" err="1">
                <a:solidFill>
                  <a:schemeClr val="tx1"/>
                </a:solidFill>
              </a:rPr>
              <a:t>lower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competition</a:t>
            </a:r>
            <a:r>
              <a:rPr lang="de-DE" sz="1800" dirty="0">
                <a:solidFill>
                  <a:schemeClr val="tx1"/>
                </a:solidFill>
              </a:rPr>
              <a:t> and </a:t>
            </a:r>
            <a:r>
              <a:rPr lang="de-DE" sz="1800" dirty="0" err="1">
                <a:solidFill>
                  <a:schemeClr val="tx1"/>
                </a:solidFill>
              </a:rPr>
              <a:t>prices</a:t>
            </a:r>
            <a:r>
              <a:rPr lang="de-DE" sz="1800" dirty="0">
                <a:solidFill>
                  <a:schemeClr val="tx1"/>
                </a:solidFill>
              </a:rPr>
              <a:t>.</a:t>
            </a:r>
            <a:endParaRPr lang="de-DE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120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5E1A-B809-883F-C23E-94C597F1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76251-5A6A-EB63-7460-819D454A853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4632" y="-120650"/>
            <a:ext cx="10690225" cy="1308100"/>
          </a:xfrm>
        </p:spPr>
        <p:txBody>
          <a:bodyPr>
            <a:normAutofit/>
          </a:bodyPr>
          <a:lstStyle/>
          <a:p>
            <a:r>
              <a:rPr lang="en-US" sz="2800" dirty="0"/>
              <a:t>Average house price by selling month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1B3668A5-F0CA-1D6E-6528-42E99A9ADA37}"/>
              </a:ext>
            </a:extLst>
          </p:cNvPr>
          <p:cNvCxnSpPr>
            <a:cxnSpLocks/>
          </p:cNvCxnSpPr>
          <p:nvPr/>
        </p:nvCxnSpPr>
        <p:spPr>
          <a:xfrm>
            <a:off x="594632" y="879380"/>
            <a:ext cx="98193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416C2353-85F5-106B-78FA-40F4233FFB16}"/>
              </a:ext>
            </a:extLst>
          </p:cNvPr>
          <p:cNvSpPr txBox="1"/>
          <p:nvPr/>
        </p:nvSpPr>
        <p:spPr>
          <a:xfrm>
            <a:off x="841488" y="5978619"/>
            <a:ext cx="102365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Calisto MT" panose="02040603050505030304" pitchFamily="18" charset="77"/>
              </a:rPr>
              <a:t>Houses are cheaper in winter months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E738FF5-E9D9-7A01-6FA3-51ADDC26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286" y="972026"/>
            <a:ext cx="8189913" cy="491394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B8CCB0B4-7CF5-475A-5AFB-1C14F9B09942}"/>
              </a:ext>
            </a:extLst>
          </p:cNvPr>
          <p:cNvSpPr/>
          <p:nvPr/>
        </p:nvSpPr>
        <p:spPr>
          <a:xfrm>
            <a:off x="3270738" y="1494692"/>
            <a:ext cx="615462" cy="40092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3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FEB41-F12F-1986-CEBD-09C8788E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050B7-0BAE-23CD-D48E-D01692D6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Hyphothesis</a:t>
            </a:r>
            <a:r>
              <a:rPr lang="en-US" dirty="0"/>
              <a:t>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9A63C6-A191-9AAE-1F2A-92E5C6CA6BC2}"/>
              </a:ext>
            </a:extLst>
          </p:cNvPr>
          <p:cNvSpPr txBox="1">
            <a:spLocks/>
          </p:cNvSpPr>
          <p:nvPr/>
        </p:nvSpPr>
        <p:spPr>
          <a:xfrm>
            <a:off x="700635" y="3130952"/>
            <a:ext cx="10790730" cy="9143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de-DE" sz="1800" dirty="0">
                <a:solidFill>
                  <a:schemeClr val="tx1"/>
                </a:solidFill>
              </a:rPr>
              <a:t>The </a:t>
            </a:r>
            <a:r>
              <a:rPr lang="de-DE" sz="1800" dirty="0" err="1">
                <a:solidFill>
                  <a:schemeClr val="tx1"/>
                </a:solidFill>
              </a:rPr>
              <a:t>best</a:t>
            </a:r>
            <a:r>
              <a:rPr lang="de-DE" sz="1800" dirty="0">
                <a:solidFill>
                  <a:schemeClr val="tx1"/>
                </a:solidFill>
              </a:rPr>
              <a:t> time </a:t>
            </a:r>
            <a:r>
              <a:rPr lang="de-DE" sz="1800" dirty="0" err="1">
                <a:solidFill>
                  <a:schemeClr val="tx1"/>
                </a:solidFill>
              </a:rPr>
              <a:t>to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buy</a:t>
            </a:r>
            <a:r>
              <a:rPr lang="de-DE" sz="1800" b="1" dirty="0">
                <a:solidFill>
                  <a:schemeClr val="tx1"/>
                </a:solidFill>
              </a:rPr>
              <a:t> a </a:t>
            </a:r>
            <a:r>
              <a:rPr lang="de-DE" sz="1800" b="1" dirty="0" err="1">
                <a:solidFill>
                  <a:schemeClr val="tx1"/>
                </a:solidFill>
              </a:rPr>
              <a:t>house</a:t>
            </a:r>
            <a:r>
              <a:rPr lang="de-DE" sz="1800" b="1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within</a:t>
            </a:r>
            <a:r>
              <a:rPr lang="de-DE" sz="1800" dirty="0">
                <a:solidFill>
                  <a:schemeClr val="tx1"/>
                </a:solidFill>
              </a:rPr>
              <a:t> a </a:t>
            </a:r>
            <a:r>
              <a:rPr lang="de-DE" sz="1800" dirty="0" err="1">
                <a:solidFill>
                  <a:schemeClr val="tx1"/>
                </a:solidFill>
              </a:rPr>
              <a:t>year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is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b="1" dirty="0" err="1">
                <a:solidFill>
                  <a:schemeClr val="tx1"/>
                </a:solidFill>
              </a:rPr>
              <a:t>winter</a:t>
            </a:r>
            <a:r>
              <a:rPr lang="de-DE" sz="1800" dirty="0">
                <a:solidFill>
                  <a:schemeClr val="tx1"/>
                </a:solidFill>
              </a:rPr>
              <a:t>, due </a:t>
            </a:r>
            <a:r>
              <a:rPr lang="de-DE" sz="1800" dirty="0" err="1">
                <a:solidFill>
                  <a:schemeClr val="tx1"/>
                </a:solidFill>
              </a:rPr>
              <a:t>lower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r>
              <a:rPr lang="de-DE" sz="1800" dirty="0" err="1">
                <a:solidFill>
                  <a:schemeClr val="tx1"/>
                </a:solidFill>
              </a:rPr>
              <a:t>competition</a:t>
            </a:r>
            <a:r>
              <a:rPr lang="de-DE" sz="1800" dirty="0">
                <a:solidFill>
                  <a:schemeClr val="tx1"/>
                </a:solidFill>
              </a:rPr>
              <a:t> and </a:t>
            </a:r>
            <a:r>
              <a:rPr lang="de-DE" sz="1800" dirty="0" err="1">
                <a:solidFill>
                  <a:schemeClr val="tx1"/>
                </a:solidFill>
              </a:rPr>
              <a:t>prices</a:t>
            </a:r>
            <a:r>
              <a:rPr lang="de-DE" sz="1800" dirty="0">
                <a:solidFill>
                  <a:schemeClr val="tx1"/>
                </a:solidFill>
              </a:rPr>
              <a:t>.</a:t>
            </a:r>
            <a:endParaRPr lang="de-DE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340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7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6A9BCA-C175-9A39-F045-8A5D11E9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RecommendationS</a:t>
            </a:r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4D11575-7E49-05D8-AAFD-5A521EC58A4F}"/>
              </a:ext>
            </a:extLst>
          </p:cNvPr>
          <p:cNvSpPr txBox="1"/>
          <p:nvPr/>
        </p:nvSpPr>
        <p:spPr>
          <a:xfrm>
            <a:off x="709735" y="2231137"/>
            <a:ext cx="5195889" cy="1197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Houses in </a:t>
            </a:r>
            <a:r>
              <a:rPr lang="en-US" b="1" dirty="0"/>
              <a:t>residential</a:t>
            </a:r>
            <a:r>
              <a:rPr lang="en-US" dirty="0"/>
              <a:t> area are </a:t>
            </a:r>
            <a:r>
              <a:rPr lang="en-US" b="1" dirty="0"/>
              <a:t>close</a:t>
            </a:r>
            <a:r>
              <a:rPr lang="en-US" dirty="0"/>
              <a:t> </a:t>
            </a:r>
            <a:r>
              <a:rPr lang="en-US" b="1" dirty="0"/>
              <a:t>to downtown </a:t>
            </a:r>
            <a:r>
              <a:rPr lang="en-US" dirty="0"/>
              <a:t>of Seattle, have </a:t>
            </a:r>
            <a:r>
              <a:rPr lang="en-US" b="1" dirty="0"/>
              <a:t>lively</a:t>
            </a:r>
            <a:r>
              <a:rPr lang="en-US" dirty="0"/>
              <a:t> spots as well and are </a:t>
            </a:r>
            <a:r>
              <a:rPr lang="en-US" b="1" dirty="0"/>
              <a:t>cheaper</a:t>
            </a:r>
            <a:r>
              <a:rPr lang="en-US" dirty="0"/>
              <a:t> than in the center!</a:t>
            </a:r>
          </a:p>
        </p:txBody>
      </p:sp>
      <p:cxnSp>
        <p:nvCxnSpPr>
          <p:cNvPr id="3084" name="Straight Connector 308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6ABCA961-7B87-A19D-5420-BBEEB9040B93}"/>
              </a:ext>
            </a:extLst>
          </p:cNvPr>
          <p:cNvSpPr txBox="1"/>
          <p:nvPr/>
        </p:nvSpPr>
        <p:spPr>
          <a:xfrm>
            <a:off x="709735" y="3556331"/>
            <a:ext cx="5195889" cy="168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Grade and condition scores </a:t>
            </a:r>
            <a:r>
              <a:rPr lang="en-US" dirty="0"/>
              <a:t>of houses are </a:t>
            </a:r>
            <a:r>
              <a:rPr lang="en-US" b="1" dirty="0"/>
              <a:t>similar</a:t>
            </a:r>
            <a:r>
              <a:rPr lang="en-US" dirty="0"/>
              <a:t> in different areas; houses in wealthy and isolated areas have a higher grade</a:t>
            </a:r>
          </a:p>
          <a:p>
            <a:pPr marL="342900" indent="-28575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Middle-priced </a:t>
            </a:r>
            <a:r>
              <a:rPr lang="en-US" dirty="0"/>
              <a:t>houses receive </a:t>
            </a:r>
            <a:r>
              <a:rPr lang="en-US" b="1" dirty="0"/>
              <a:t>grades</a:t>
            </a:r>
            <a:r>
              <a:rPr lang="en-US" dirty="0"/>
              <a:t> in the </a:t>
            </a:r>
            <a:r>
              <a:rPr lang="en-US" b="1" dirty="0"/>
              <a:t>mid-range </a:t>
            </a:r>
            <a:r>
              <a:rPr lang="en-US" dirty="0"/>
              <a:t>of the grading scale.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75416F9-3B9A-464E-F05C-42DE0B76D31A}"/>
              </a:ext>
            </a:extLst>
          </p:cNvPr>
          <p:cNvSpPr txBox="1"/>
          <p:nvPr/>
        </p:nvSpPr>
        <p:spPr>
          <a:xfrm>
            <a:off x="709735" y="5563305"/>
            <a:ext cx="5195889" cy="897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best time to buy </a:t>
            </a:r>
            <a:r>
              <a:rPr lang="en-US" dirty="0"/>
              <a:t>a house within a year is winter!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7753214F-5926-9EF2-C880-AA39F4E794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1" t="13033" r="9980"/>
          <a:stretch/>
        </p:blipFill>
        <p:spPr bwMode="auto">
          <a:xfrm>
            <a:off x="6096000" y="1623899"/>
            <a:ext cx="5770484" cy="461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682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upe, die sinkende Leistung zeigt">
            <a:extLst>
              <a:ext uri="{FF2B5EF4-FFF2-40B4-BE49-F238E27FC236}">
                <a16:creationId xmlns:a16="http://schemas.microsoft.com/office/drawing/2014/main" id="{73C28502-8DCD-A911-1A51-9C86F5B16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2" r="37195" b="-2"/>
          <a:stretch/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D4B79ED-FC15-3B25-2E6D-615C504B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The dataset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FC8C3F-1DAD-E3FB-E749-3BE0714DA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Database with information on home sales in King County (USA)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Overall good quality of the data, but:</a:t>
            </a:r>
          </a:p>
          <a:p>
            <a:r>
              <a:rPr lang="en-US" dirty="0"/>
              <a:t>Some missing values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Change of variable types</a:t>
            </a:r>
          </a:p>
          <a:p>
            <a:r>
              <a:rPr lang="en-US" dirty="0">
                <a:sym typeface="Wingdings" pitchFamily="2" charset="2"/>
              </a:rPr>
              <a:t>Duplicate values (177)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924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ragezeichen in einer Reihe, eines der Fragezeichen ist beleuchtet">
            <a:extLst>
              <a:ext uri="{FF2B5EF4-FFF2-40B4-BE49-F238E27FC236}">
                <a16:creationId xmlns:a16="http://schemas.microsoft.com/office/drawing/2014/main" id="{9CA7E147-30DE-7E45-EE54-B621AC483A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773712B-5562-E376-4338-80134244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175147"/>
            <a:ext cx="7978385" cy="9162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How?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1076F52E-54EB-17C7-959C-155D67DF4FD6}"/>
              </a:ext>
            </a:extLst>
          </p:cNvPr>
          <p:cNvSpPr/>
          <p:nvPr/>
        </p:nvSpPr>
        <p:spPr>
          <a:xfrm>
            <a:off x="700635" y="1431896"/>
            <a:ext cx="8232274" cy="673181"/>
          </a:xfrm>
          <a:custGeom>
            <a:avLst/>
            <a:gdLst>
              <a:gd name="connsiteX0" fmla="*/ 0 w 8232274"/>
              <a:gd name="connsiteY0" fmla="*/ 67318 h 673181"/>
              <a:gd name="connsiteX1" fmla="*/ 67318 w 8232274"/>
              <a:gd name="connsiteY1" fmla="*/ 0 h 673181"/>
              <a:gd name="connsiteX2" fmla="*/ 8164956 w 8232274"/>
              <a:gd name="connsiteY2" fmla="*/ 0 h 673181"/>
              <a:gd name="connsiteX3" fmla="*/ 8232274 w 8232274"/>
              <a:gd name="connsiteY3" fmla="*/ 67318 h 673181"/>
              <a:gd name="connsiteX4" fmla="*/ 8232274 w 8232274"/>
              <a:gd name="connsiteY4" fmla="*/ 605863 h 673181"/>
              <a:gd name="connsiteX5" fmla="*/ 8164956 w 8232274"/>
              <a:gd name="connsiteY5" fmla="*/ 673181 h 673181"/>
              <a:gd name="connsiteX6" fmla="*/ 67318 w 8232274"/>
              <a:gd name="connsiteY6" fmla="*/ 673181 h 673181"/>
              <a:gd name="connsiteX7" fmla="*/ 0 w 8232274"/>
              <a:gd name="connsiteY7" fmla="*/ 605863 h 673181"/>
              <a:gd name="connsiteX8" fmla="*/ 0 w 8232274"/>
              <a:gd name="connsiteY8" fmla="*/ 67318 h 673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32274" h="673181">
                <a:moveTo>
                  <a:pt x="0" y="67318"/>
                </a:moveTo>
                <a:cubicBezTo>
                  <a:pt x="0" y="30139"/>
                  <a:pt x="30139" y="0"/>
                  <a:pt x="67318" y="0"/>
                </a:cubicBezTo>
                <a:lnTo>
                  <a:pt x="8164956" y="0"/>
                </a:lnTo>
                <a:cubicBezTo>
                  <a:pt x="8202135" y="0"/>
                  <a:pt x="8232274" y="30139"/>
                  <a:pt x="8232274" y="67318"/>
                </a:cubicBezTo>
                <a:lnTo>
                  <a:pt x="8232274" y="605863"/>
                </a:lnTo>
                <a:cubicBezTo>
                  <a:pt x="8232274" y="643042"/>
                  <a:pt x="8202135" y="673181"/>
                  <a:pt x="8164956" y="673181"/>
                </a:cubicBezTo>
                <a:lnTo>
                  <a:pt x="67318" y="673181"/>
                </a:lnTo>
                <a:cubicBezTo>
                  <a:pt x="30139" y="673181"/>
                  <a:pt x="0" y="643042"/>
                  <a:pt x="0" y="605863"/>
                </a:cubicBezTo>
                <a:lnTo>
                  <a:pt x="0" y="6731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2107" tIns="92107" rIns="857851" bIns="92107" numCol="1" spcCol="1270" anchor="ctr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Cleaning of the data</a:t>
            </a:r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D8435CB5-D5F5-61B2-75E6-C2A95A4B569E}"/>
              </a:ext>
            </a:extLst>
          </p:cNvPr>
          <p:cNvSpPr/>
          <p:nvPr/>
        </p:nvSpPr>
        <p:spPr>
          <a:xfrm>
            <a:off x="1315382" y="2198574"/>
            <a:ext cx="8232274" cy="673181"/>
          </a:xfrm>
          <a:custGeom>
            <a:avLst/>
            <a:gdLst>
              <a:gd name="connsiteX0" fmla="*/ 0 w 8232274"/>
              <a:gd name="connsiteY0" fmla="*/ 67318 h 673181"/>
              <a:gd name="connsiteX1" fmla="*/ 67318 w 8232274"/>
              <a:gd name="connsiteY1" fmla="*/ 0 h 673181"/>
              <a:gd name="connsiteX2" fmla="*/ 8164956 w 8232274"/>
              <a:gd name="connsiteY2" fmla="*/ 0 h 673181"/>
              <a:gd name="connsiteX3" fmla="*/ 8232274 w 8232274"/>
              <a:gd name="connsiteY3" fmla="*/ 67318 h 673181"/>
              <a:gd name="connsiteX4" fmla="*/ 8232274 w 8232274"/>
              <a:gd name="connsiteY4" fmla="*/ 605863 h 673181"/>
              <a:gd name="connsiteX5" fmla="*/ 8164956 w 8232274"/>
              <a:gd name="connsiteY5" fmla="*/ 673181 h 673181"/>
              <a:gd name="connsiteX6" fmla="*/ 67318 w 8232274"/>
              <a:gd name="connsiteY6" fmla="*/ 673181 h 673181"/>
              <a:gd name="connsiteX7" fmla="*/ 0 w 8232274"/>
              <a:gd name="connsiteY7" fmla="*/ 605863 h 673181"/>
              <a:gd name="connsiteX8" fmla="*/ 0 w 8232274"/>
              <a:gd name="connsiteY8" fmla="*/ 67318 h 673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32274" h="673181">
                <a:moveTo>
                  <a:pt x="0" y="67318"/>
                </a:moveTo>
                <a:cubicBezTo>
                  <a:pt x="0" y="30139"/>
                  <a:pt x="30139" y="0"/>
                  <a:pt x="67318" y="0"/>
                </a:cubicBezTo>
                <a:lnTo>
                  <a:pt x="8164956" y="0"/>
                </a:lnTo>
                <a:cubicBezTo>
                  <a:pt x="8202135" y="0"/>
                  <a:pt x="8232274" y="30139"/>
                  <a:pt x="8232274" y="67318"/>
                </a:cubicBezTo>
                <a:lnTo>
                  <a:pt x="8232274" y="605863"/>
                </a:lnTo>
                <a:cubicBezTo>
                  <a:pt x="8232274" y="643042"/>
                  <a:pt x="8202135" y="673181"/>
                  <a:pt x="8164956" y="673181"/>
                </a:cubicBezTo>
                <a:lnTo>
                  <a:pt x="67318" y="673181"/>
                </a:lnTo>
                <a:cubicBezTo>
                  <a:pt x="30139" y="673181"/>
                  <a:pt x="0" y="643042"/>
                  <a:pt x="0" y="605863"/>
                </a:cubicBezTo>
                <a:lnTo>
                  <a:pt x="0" y="6731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2107" tIns="92107" rIns="1144423" bIns="92107" numCol="1" spcCol="1270" anchor="ctr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Sorted ZIP codes into different areas, based how lively and central </a:t>
            </a:r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1C113C8B-339D-ED1D-E6D2-E73FA329DA8F}"/>
              </a:ext>
            </a:extLst>
          </p:cNvPr>
          <p:cNvSpPr/>
          <p:nvPr/>
        </p:nvSpPr>
        <p:spPr>
          <a:xfrm>
            <a:off x="1930130" y="2965253"/>
            <a:ext cx="8232274" cy="673181"/>
          </a:xfrm>
          <a:custGeom>
            <a:avLst/>
            <a:gdLst>
              <a:gd name="connsiteX0" fmla="*/ 0 w 8232274"/>
              <a:gd name="connsiteY0" fmla="*/ 67318 h 673181"/>
              <a:gd name="connsiteX1" fmla="*/ 67318 w 8232274"/>
              <a:gd name="connsiteY1" fmla="*/ 0 h 673181"/>
              <a:gd name="connsiteX2" fmla="*/ 8164956 w 8232274"/>
              <a:gd name="connsiteY2" fmla="*/ 0 h 673181"/>
              <a:gd name="connsiteX3" fmla="*/ 8232274 w 8232274"/>
              <a:gd name="connsiteY3" fmla="*/ 67318 h 673181"/>
              <a:gd name="connsiteX4" fmla="*/ 8232274 w 8232274"/>
              <a:gd name="connsiteY4" fmla="*/ 605863 h 673181"/>
              <a:gd name="connsiteX5" fmla="*/ 8164956 w 8232274"/>
              <a:gd name="connsiteY5" fmla="*/ 673181 h 673181"/>
              <a:gd name="connsiteX6" fmla="*/ 67318 w 8232274"/>
              <a:gd name="connsiteY6" fmla="*/ 673181 h 673181"/>
              <a:gd name="connsiteX7" fmla="*/ 0 w 8232274"/>
              <a:gd name="connsiteY7" fmla="*/ 605863 h 673181"/>
              <a:gd name="connsiteX8" fmla="*/ 0 w 8232274"/>
              <a:gd name="connsiteY8" fmla="*/ 67318 h 673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32274" h="673181">
                <a:moveTo>
                  <a:pt x="0" y="67318"/>
                </a:moveTo>
                <a:cubicBezTo>
                  <a:pt x="0" y="30139"/>
                  <a:pt x="30139" y="0"/>
                  <a:pt x="67318" y="0"/>
                </a:cubicBezTo>
                <a:lnTo>
                  <a:pt x="8164956" y="0"/>
                </a:lnTo>
                <a:cubicBezTo>
                  <a:pt x="8202135" y="0"/>
                  <a:pt x="8232274" y="30139"/>
                  <a:pt x="8232274" y="67318"/>
                </a:cubicBezTo>
                <a:lnTo>
                  <a:pt x="8232274" y="605863"/>
                </a:lnTo>
                <a:cubicBezTo>
                  <a:pt x="8232274" y="643042"/>
                  <a:pt x="8202135" y="673181"/>
                  <a:pt x="8164956" y="673181"/>
                </a:cubicBezTo>
                <a:lnTo>
                  <a:pt x="67318" y="673181"/>
                </a:lnTo>
                <a:cubicBezTo>
                  <a:pt x="30139" y="673181"/>
                  <a:pt x="0" y="643042"/>
                  <a:pt x="0" y="605863"/>
                </a:cubicBezTo>
                <a:lnTo>
                  <a:pt x="0" y="6731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2107" tIns="92107" rIns="1144423" bIns="92107" numCol="1" spcCol="1270" anchor="ctr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Calculated prices by area</a:t>
            </a:r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642B59C2-754D-62CC-C414-A7F5467FAC5C}"/>
              </a:ext>
            </a:extLst>
          </p:cNvPr>
          <p:cNvSpPr/>
          <p:nvPr/>
        </p:nvSpPr>
        <p:spPr>
          <a:xfrm>
            <a:off x="2544878" y="3731932"/>
            <a:ext cx="8232274" cy="673181"/>
          </a:xfrm>
          <a:custGeom>
            <a:avLst/>
            <a:gdLst>
              <a:gd name="connsiteX0" fmla="*/ 0 w 8232274"/>
              <a:gd name="connsiteY0" fmla="*/ 67318 h 673181"/>
              <a:gd name="connsiteX1" fmla="*/ 67318 w 8232274"/>
              <a:gd name="connsiteY1" fmla="*/ 0 h 673181"/>
              <a:gd name="connsiteX2" fmla="*/ 8164956 w 8232274"/>
              <a:gd name="connsiteY2" fmla="*/ 0 h 673181"/>
              <a:gd name="connsiteX3" fmla="*/ 8232274 w 8232274"/>
              <a:gd name="connsiteY3" fmla="*/ 67318 h 673181"/>
              <a:gd name="connsiteX4" fmla="*/ 8232274 w 8232274"/>
              <a:gd name="connsiteY4" fmla="*/ 605863 h 673181"/>
              <a:gd name="connsiteX5" fmla="*/ 8164956 w 8232274"/>
              <a:gd name="connsiteY5" fmla="*/ 673181 h 673181"/>
              <a:gd name="connsiteX6" fmla="*/ 67318 w 8232274"/>
              <a:gd name="connsiteY6" fmla="*/ 673181 h 673181"/>
              <a:gd name="connsiteX7" fmla="*/ 0 w 8232274"/>
              <a:gd name="connsiteY7" fmla="*/ 605863 h 673181"/>
              <a:gd name="connsiteX8" fmla="*/ 0 w 8232274"/>
              <a:gd name="connsiteY8" fmla="*/ 67318 h 673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32274" h="673181">
                <a:moveTo>
                  <a:pt x="0" y="67318"/>
                </a:moveTo>
                <a:cubicBezTo>
                  <a:pt x="0" y="30139"/>
                  <a:pt x="30139" y="0"/>
                  <a:pt x="67318" y="0"/>
                </a:cubicBezTo>
                <a:lnTo>
                  <a:pt x="8164956" y="0"/>
                </a:lnTo>
                <a:cubicBezTo>
                  <a:pt x="8202135" y="0"/>
                  <a:pt x="8232274" y="30139"/>
                  <a:pt x="8232274" y="67318"/>
                </a:cubicBezTo>
                <a:lnTo>
                  <a:pt x="8232274" y="605863"/>
                </a:lnTo>
                <a:cubicBezTo>
                  <a:pt x="8232274" y="643042"/>
                  <a:pt x="8202135" y="673181"/>
                  <a:pt x="8164956" y="673181"/>
                </a:cubicBezTo>
                <a:lnTo>
                  <a:pt x="67318" y="673181"/>
                </a:lnTo>
                <a:cubicBezTo>
                  <a:pt x="30139" y="673181"/>
                  <a:pt x="0" y="643042"/>
                  <a:pt x="0" y="605863"/>
                </a:cubicBezTo>
                <a:lnTo>
                  <a:pt x="0" y="6731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2107" tIns="92107" rIns="1144423" bIns="92107" numCol="1" spcCol="1270" anchor="ctr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Calculated grade and condition by area</a:t>
            </a: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CA40B6B3-C74F-A3C2-1C51-CCD6F179D4FB}"/>
              </a:ext>
            </a:extLst>
          </p:cNvPr>
          <p:cNvSpPr/>
          <p:nvPr/>
        </p:nvSpPr>
        <p:spPr>
          <a:xfrm>
            <a:off x="3159625" y="4498610"/>
            <a:ext cx="8232274" cy="673181"/>
          </a:xfrm>
          <a:custGeom>
            <a:avLst/>
            <a:gdLst>
              <a:gd name="connsiteX0" fmla="*/ 0 w 8232274"/>
              <a:gd name="connsiteY0" fmla="*/ 67318 h 673181"/>
              <a:gd name="connsiteX1" fmla="*/ 67318 w 8232274"/>
              <a:gd name="connsiteY1" fmla="*/ 0 h 673181"/>
              <a:gd name="connsiteX2" fmla="*/ 8164956 w 8232274"/>
              <a:gd name="connsiteY2" fmla="*/ 0 h 673181"/>
              <a:gd name="connsiteX3" fmla="*/ 8232274 w 8232274"/>
              <a:gd name="connsiteY3" fmla="*/ 67318 h 673181"/>
              <a:gd name="connsiteX4" fmla="*/ 8232274 w 8232274"/>
              <a:gd name="connsiteY4" fmla="*/ 605863 h 673181"/>
              <a:gd name="connsiteX5" fmla="*/ 8164956 w 8232274"/>
              <a:gd name="connsiteY5" fmla="*/ 673181 h 673181"/>
              <a:gd name="connsiteX6" fmla="*/ 67318 w 8232274"/>
              <a:gd name="connsiteY6" fmla="*/ 673181 h 673181"/>
              <a:gd name="connsiteX7" fmla="*/ 0 w 8232274"/>
              <a:gd name="connsiteY7" fmla="*/ 605863 h 673181"/>
              <a:gd name="connsiteX8" fmla="*/ 0 w 8232274"/>
              <a:gd name="connsiteY8" fmla="*/ 67318 h 673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32274" h="673181">
                <a:moveTo>
                  <a:pt x="0" y="67318"/>
                </a:moveTo>
                <a:cubicBezTo>
                  <a:pt x="0" y="30139"/>
                  <a:pt x="30139" y="0"/>
                  <a:pt x="67318" y="0"/>
                </a:cubicBezTo>
                <a:lnTo>
                  <a:pt x="8164956" y="0"/>
                </a:lnTo>
                <a:cubicBezTo>
                  <a:pt x="8202135" y="0"/>
                  <a:pt x="8232274" y="30139"/>
                  <a:pt x="8232274" y="67318"/>
                </a:cubicBezTo>
                <a:lnTo>
                  <a:pt x="8232274" y="605863"/>
                </a:lnTo>
                <a:cubicBezTo>
                  <a:pt x="8232274" y="643042"/>
                  <a:pt x="8202135" y="673181"/>
                  <a:pt x="8164956" y="673181"/>
                </a:cubicBezTo>
                <a:lnTo>
                  <a:pt x="67318" y="673181"/>
                </a:lnTo>
                <a:cubicBezTo>
                  <a:pt x="30139" y="673181"/>
                  <a:pt x="0" y="643042"/>
                  <a:pt x="0" y="605863"/>
                </a:cubicBezTo>
                <a:lnTo>
                  <a:pt x="0" y="6731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2107" tIns="92107" rIns="1144423" bIns="92107" numCol="1" spcCol="1270" anchor="ctr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Impact of price range on grade and condition</a:t>
            </a:r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B9026A29-D3BC-1171-AED1-F43A40DA090A}"/>
              </a:ext>
            </a:extLst>
          </p:cNvPr>
          <p:cNvSpPr/>
          <p:nvPr/>
        </p:nvSpPr>
        <p:spPr>
          <a:xfrm>
            <a:off x="8495341" y="1923692"/>
            <a:ext cx="437567" cy="437567"/>
          </a:xfrm>
          <a:custGeom>
            <a:avLst/>
            <a:gdLst>
              <a:gd name="connsiteX0" fmla="*/ 0 w 437567"/>
              <a:gd name="connsiteY0" fmla="*/ 240662 h 437567"/>
              <a:gd name="connsiteX1" fmla="*/ 98453 w 437567"/>
              <a:gd name="connsiteY1" fmla="*/ 240662 h 437567"/>
              <a:gd name="connsiteX2" fmla="*/ 98453 w 437567"/>
              <a:gd name="connsiteY2" fmla="*/ 0 h 437567"/>
              <a:gd name="connsiteX3" fmla="*/ 339114 w 437567"/>
              <a:gd name="connsiteY3" fmla="*/ 0 h 437567"/>
              <a:gd name="connsiteX4" fmla="*/ 339114 w 437567"/>
              <a:gd name="connsiteY4" fmla="*/ 240662 h 437567"/>
              <a:gd name="connsiteX5" fmla="*/ 437567 w 437567"/>
              <a:gd name="connsiteY5" fmla="*/ 240662 h 437567"/>
              <a:gd name="connsiteX6" fmla="*/ 218784 w 437567"/>
              <a:gd name="connsiteY6" fmla="*/ 437567 h 437567"/>
              <a:gd name="connsiteX7" fmla="*/ 0 w 437567"/>
              <a:gd name="connsiteY7" fmla="*/ 240662 h 43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67" h="437567">
                <a:moveTo>
                  <a:pt x="0" y="240662"/>
                </a:moveTo>
                <a:lnTo>
                  <a:pt x="98453" y="240662"/>
                </a:lnTo>
                <a:lnTo>
                  <a:pt x="98453" y="0"/>
                </a:lnTo>
                <a:lnTo>
                  <a:pt x="339114" y="0"/>
                </a:lnTo>
                <a:lnTo>
                  <a:pt x="339114" y="240662"/>
                </a:lnTo>
                <a:lnTo>
                  <a:pt x="437567" y="240662"/>
                </a:lnTo>
                <a:lnTo>
                  <a:pt x="218784" y="437567"/>
                </a:lnTo>
                <a:lnTo>
                  <a:pt x="0" y="240662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853" tIns="25400" rIns="123853" bIns="133698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27668F76-E419-6055-2354-84F3029C5E89}"/>
              </a:ext>
            </a:extLst>
          </p:cNvPr>
          <p:cNvSpPr/>
          <p:nvPr/>
        </p:nvSpPr>
        <p:spPr>
          <a:xfrm>
            <a:off x="9110088" y="2690371"/>
            <a:ext cx="437567" cy="437567"/>
          </a:xfrm>
          <a:custGeom>
            <a:avLst/>
            <a:gdLst>
              <a:gd name="connsiteX0" fmla="*/ 0 w 437567"/>
              <a:gd name="connsiteY0" fmla="*/ 240662 h 437567"/>
              <a:gd name="connsiteX1" fmla="*/ 98453 w 437567"/>
              <a:gd name="connsiteY1" fmla="*/ 240662 h 437567"/>
              <a:gd name="connsiteX2" fmla="*/ 98453 w 437567"/>
              <a:gd name="connsiteY2" fmla="*/ 0 h 437567"/>
              <a:gd name="connsiteX3" fmla="*/ 339114 w 437567"/>
              <a:gd name="connsiteY3" fmla="*/ 0 h 437567"/>
              <a:gd name="connsiteX4" fmla="*/ 339114 w 437567"/>
              <a:gd name="connsiteY4" fmla="*/ 240662 h 437567"/>
              <a:gd name="connsiteX5" fmla="*/ 437567 w 437567"/>
              <a:gd name="connsiteY5" fmla="*/ 240662 h 437567"/>
              <a:gd name="connsiteX6" fmla="*/ 218784 w 437567"/>
              <a:gd name="connsiteY6" fmla="*/ 437567 h 437567"/>
              <a:gd name="connsiteX7" fmla="*/ 0 w 437567"/>
              <a:gd name="connsiteY7" fmla="*/ 240662 h 43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67" h="437567">
                <a:moveTo>
                  <a:pt x="0" y="240662"/>
                </a:moveTo>
                <a:lnTo>
                  <a:pt x="98453" y="240662"/>
                </a:lnTo>
                <a:lnTo>
                  <a:pt x="98453" y="0"/>
                </a:lnTo>
                <a:lnTo>
                  <a:pt x="339114" y="0"/>
                </a:lnTo>
                <a:lnTo>
                  <a:pt x="339114" y="240662"/>
                </a:lnTo>
                <a:lnTo>
                  <a:pt x="437567" y="240662"/>
                </a:lnTo>
                <a:lnTo>
                  <a:pt x="218784" y="437567"/>
                </a:lnTo>
                <a:lnTo>
                  <a:pt x="0" y="240662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853" tIns="25400" rIns="123853" bIns="133698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/>
          </a:p>
        </p:txBody>
      </p:sp>
      <p:sp>
        <p:nvSpPr>
          <p:cNvPr id="25" name="Freihandform 24">
            <a:extLst>
              <a:ext uri="{FF2B5EF4-FFF2-40B4-BE49-F238E27FC236}">
                <a16:creationId xmlns:a16="http://schemas.microsoft.com/office/drawing/2014/main" id="{94366D9B-3531-5765-CB0F-CE88E17F8D90}"/>
              </a:ext>
            </a:extLst>
          </p:cNvPr>
          <p:cNvSpPr/>
          <p:nvPr/>
        </p:nvSpPr>
        <p:spPr>
          <a:xfrm>
            <a:off x="9724836" y="3445829"/>
            <a:ext cx="437567" cy="437567"/>
          </a:xfrm>
          <a:custGeom>
            <a:avLst/>
            <a:gdLst>
              <a:gd name="connsiteX0" fmla="*/ 0 w 437567"/>
              <a:gd name="connsiteY0" fmla="*/ 240662 h 437567"/>
              <a:gd name="connsiteX1" fmla="*/ 98453 w 437567"/>
              <a:gd name="connsiteY1" fmla="*/ 240662 h 437567"/>
              <a:gd name="connsiteX2" fmla="*/ 98453 w 437567"/>
              <a:gd name="connsiteY2" fmla="*/ 0 h 437567"/>
              <a:gd name="connsiteX3" fmla="*/ 339114 w 437567"/>
              <a:gd name="connsiteY3" fmla="*/ 0 h 437567"/>
              <a:gd name="connsiteX4" fmla="*/ 339114 w 437567"/>
              <a:gd name="connsiteY4" fmla="*/ 240662 h 437567"/>
              <a:gd name="connsiteX5" fmla="*/ 437567 w 437567"/>
              <a:gd name="connsiteY5" fmla="*/ 240662 h 437567"/>
              <a:gd name="connsiteX6" fmla="*/ 218784 w 437567"/>
              <a:gd name="connsiteY6" fmla="*/ 437567 h 437567"/>
              <a:gd name="connsiteX7" fmla="*/ 0 w 437567"/>
              <a:gd name="connsiteY7" fmla="*/ 240662 h 43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67" h="437567">
                <a:moveTo>
                  <a:pt x="0" y="240662"/>
                </a:moveTo>
                <a:lnTo>
                  <a:pt x="98453" y="240662"/>
                </a:lnTo>
                <a:lnTo>
                  <a:pt x="98453" y="0"/>
                </a:lnTo>
                <a:lnTo>
                  <a:pt x="339114" y="0"/>
                </a:lnTo>
                <a:lnTo>
                  <a:pt x="339114" y="240662"/>
                </a:lnTo>
                <a:lnTo>
                  <a:pt x="437567" y="240662"/>
                </a:lnTo>
                <a:lnTo>
                  <a:pt x="218784" y="437567"/>
                </a:lnTo>
                <a:lnTo>
                  <a:pt x="0" y="240662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853" tIns="25400" rIns="123853" bIns="133698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/>
          </a:p>
        </p:txBody>
      </p:sp>
      <p:sp>
        <p:nvSpPr>
          <p:cNvPr id="26" name="Freihandform 25">
            <a:extLst>
              <a:ext uri="{FF2B5EF4-FFF2-40B4-BE49-F238E27FC236}">
                <a16:creationId xmlns:a16="http://schemas.microsoft.com/office/drawing/2014/main" id="{36108EF3-6510-930B-E55B-978163097C2F}"/>
              </a:ext>
            </a:extLst>
          </p:cNvPr>
          <p:cNvSpPr/>
          <p:nvPr/>
        </p:nvSpPr>
        <p:spPr>
          <a:xfrm>
            <a:off x="10339584" y="4219988"/>
            <a:ext cx="437567" cy="437567"/>
          </a:xfrm>
          <a:custGeom>
            <a:avLst/>
            <a:gdLst>
              <a:gd name="connsiteX0" fmla="*/ 0 w 437567"/>
              <a:gd name="connsiteY0" fmla="*/ 240662 h 437567"/>
              <a:gd name="connsiteX1" fmla="*/ 98453 w 437567"/>
              <a:gd name="connsiteY1" fmla="*/ 240662 h 437567"/>
              <a:gd name="connsiteX2" fmla="*/ 98453 w 437567"/>
              <a:gd name="connsiteY2" fmla="*/ 0 h 437567"/>
              <a:gd name="connsiteX3" fmla="*/ 339114 w 437567"/>
              <a:gd name="connsiteY3" fmla="*/ 0 h 437567"/>
              <a:gd name="connsiteX4" fmla="*/ 339114 w 437567"/>
              <a:gd name="connsiteY4" fmla="*/ 240662 h 437567"/>
              <a:gd name="connsiteX5" fmla="*/ 437567 w 437567"/>
              <a:gd name="connsiteY5" fmla="*/ 240662 h 437567"/>
              <a:gd name="connsiteX6" fmla="*/ 218784 w 437567"/>
              <a:gd name="connsiteY6" fmla="*/ 437567 h 437567"/>
              <a:gd name="connsiteX7" fmla="*/ 0 w 437567"/>
              <a:gd name="connsiteY7" fmla="*/ 240662 h 43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67" h="437567">
                <a:moveTo>
                  <a:pt x="0" y="240662"/>
                </a:moveTo>
                <a:lnTo>
                  <a:pt x="98453" y="240662"/>
                </a:lnTo>
                <a:lnTo>
                  <a:pt x="98453" y="0"/>
                </a:lnTo>
                <a:lnTo>
                  <a:pt x="339114" y="0"/>
                </a:lnTo>
                <a:lnTo>
                  <a:pt x="339114" y="240662"/>
                </a:lnTo>
                <a:lnTo>
                  <a:pt x="437567" y="240662"/>
                </a:lnTo>
                <a:lnTo>
                  <a:pt x="218784" y="437567"/>
                </a:lnTo>
                <a:lnTo>
                  <a:pt x="0" y="240662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853" tIns="25400" rIns="123853" bIns="133698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0054A9E-9AAD-D116-9E88-354656395B6E}"/>
              </a:ext>
            </a:extLst>
          </p:cNvPr>
          <p:cNvGrpSpPr/>
          <p:nvPr/>
        </p:nvGrpSpPr>
        <p:grpSpPr>
          <a:xfrm>
            <a:off x="3559676" y="5330284"/>
            <a:ext cx="8232274" cy="673181"/>
            <a:chOff x="2458990" y="3066714"/>
            <a:chExt cx="8232274" cy="673181"/>
          </a:xfrm>
        </p:grpSpPr>
        <p:sp>
          <p:nvSpPr>
            <p:cNvPr id="12" name="Abgerundetes Rechteck 11">
              <a:extLst>
                <a:ext uri="{FF2B5EF4-FFF2-40B4-BE49-F238E27FC236}">
                  <a16:creationId xmlns:a16="http://schemas.microsoft.com/office/drawing/2014/main" id="{0550CECF-823D-6C3E-B436-435B6056F53A}"/>
                </a:ext>
              </a:extLst>
            </p:cNvPr>
            <p:cNvSpPr/>
            <p:nvPr/>
          </p:nvSpPr>
          <p:spPr>
            <a:xfrm>
              <a:off x="2458990" y="3066714"/>
              <a:ext cx="8232274" cy="67318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Abgerundetes Rechteck 4">
              <a:extLst>
                <a:ext uri="{FF2B5EF4-FFF2-40B4-BE49-F238E27FC236}">
                  <a16:creationId xmlns:a16="http://schemas.microsoft.com/office/drawing/2014/main" id="{72063127-F9D2-6BA0-9A5B-4BFE1ED92EB6}"/>
                </a:ext>
              </a:extLst>
            </p:cNvPr>
            <p:cNvSpPr txBox="1"/>
            <p:nvPr/>
          </p:nvSpPr>
          <p:spPr>
            <a:xfrm>
              <a:off x="2478707" y="3086431"/>
              <a:ext cx="7140524" cy="6337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Impact of selling month on price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2191734-D705-EDFF-516C-79147B32542A}"/>
              </a:ext>
            </a:extLst>
          </p:cNvPr>
          <p:cNvGrpSpPr/>
          <p:nvPr/>
        </p:nvGrpSpPr>
        <p:grpSpPr>
          <a:xfrm>
            <a:off x="10739635" y="5051662"/>
            <a:ext cx="437567" cy="437567"/>
            <a:chOff x="9638949" y="2788092"/>
            <a:chExt cx="437567" cy="437567"/>
          </a:xfrm>
        </p:grpSpPr>
        <p:sp>
          <p:nvSpPr>
            <p:cNvPr id="8" name="Pfeil nach unten 7">
              <a:extLst>
                <a:ext uri="{FF2B5EF4-FFF2-40B4-BE49-F238E27FC236}">
                  <a16:creationId xmlns:a16="http://schemas.microsoft.com/office/drawing/2014/main" id="{56049D8F-4795-AF12-763C-6C2354820488}"/>
                </a:ext>
              </a:extLst>
            </p:cNvPr>
            <p:cNvSpPr/>
            <p:nvPr/>
          </p:nvSpPr>
          <p:spPr>
            <a:xfrm>
              <a:off x="9638949" y="2788092"/>
              <a:ext cx="437567" cy="437567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Pfeil nach unten 6">
              <a:extLst>
                <a:ext uri="{FF2B5EF4-FFF2-40B4-BE49-F238E27FC236}">
                  <a16:creationId xmlns:a16="http://schemas.microsoft.com/office/drawing/2014/main" id="{FDD753A6-010C-E357-AED1-5BF11F27F35F}"/>
                </a:ext>
              </a:extLst>
            </p:cNvPr>
            <p:cNvSpPr txBox="1"/>
            <p:nvPr/>
          </p:nvSpPr>
          <p:spPr>
            <a:xfrm>
              <a:off x="9737402" y="2788092"/>
              <a:ext cx="240661" cy="3292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194413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ChronicleVTI">
  <a:themeElements>
    <a:clrScheme name="AnalogousFromLightSeedRightStep">
      <a:dk1>
        <a:srgbClr val="000000"/>
      </a:dk1>
      <a:lt1>
        <a:srgbClr val="FFFFFF"/>
      </a:lt1>
      <a:dk2>
        <a:srgbClr val="413324"/>
      </a:dk2>
      <a:lt2>
        <a:srgbClr val="E2E7E8"/>
      </a:lt2>
      <a:accent1>
        <a:srgbClr val="D39089"/>
      </a:accent1>
      <a:accent2>
        <a:srgbClr val="C79A6B"/>
      </a:accent2>
      <a:accent3>
        <a:srgbClr val="AAA66F"/>
      </a:accent3>
      <a:accent4>
        <a:srgbClr val="91AB5F"/>
      </a:accent4>
      <a:accent5>
        <a:srgbClr val="80AE72"/>
      </a:accent5>
      <a:accent6>
        <a:srgbClr val="63B371"/>
      </a:accent6>
      <a:hlink>
        <a:srgbClr val="588C92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938</Words>
  <Application>Microsoft Macintosh PowerPoint</Application>
  <PresentationFormat>Breitbild</PresentationFormat>
  <Paragraphs>103</Paragraphs>
  <Slides>19</Slides>
  <Notes>14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Calisto MT</vt:lpstr>
      <vt:lpstr>fkGroteskNeue</vt:lpstr>
      <vt:lpstr>Univers Condensed</vt:lpstr>
      <vt:lpstr>Wingdings</vt:lpstr>
      <vt:lpstr>ChronicleVTI</vt:lpstr>
      <vt:lpstr>Office</vt:lpstr>
      <vt:lpstr>Unlocking The Ideal Seattle Home: Your Key to Lively and Central Living</vt:lpstr>
      <vt:lpstr>Your wishes</vt:lpstr>
      <vt:lpstr>The dataset</vt:lpstr>
      <vt:lpstr>Finding your ideal home</vt:lpstr>
      <vt:lpstr>Hyphothesis 1</vt:lpstr>
      <vt:lpstr>PowerPoint-Präsentation</vt:lpstr>
      <vt:lpstr>Expensive homes elevate average housing prices</vt:lpstr>
      <vt:lpstr>Average house prices by area – defined by centrality </vt:lpstr>
      <vt:lpstr>Hyphothesis 1</vt:lpstr>
      <vt:lpstr>Hyphothesis 2</vt:lpstr>
      <vt:lpstr>Average house grade and condition score by area – defined by centrality </vt:lpstr>
      <vt:lpstr>Average house grade and condition by price range</vt:lpstr>
      <vt:lpstr>Hyphothesis 2</vt:lpstr>
      <vt:lpstr>Hyphothesis 3</vt:lpstr>
      <vt:lpstr>Average house price by selling month</vt:lpstr>
      <vt:lpstr>Hyphothesis 3</vt:lpstr>
      <vt:lpstr>RecommendationS</vt:lpstr>
      <vt:lpstr>The dataset</vt:lpstr>
      <vt:lpstr>How?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Maren Bormann</dc:creator>
  <cp:lastModifiedBy>Maren Bormann</cp:lastModifiedBy>
  <cp:revision>102</cp:revision>
  <dcterms:created xsi:type="dcterms:W3CDTF">2025-02-14T10:55:54Z</dcterms:created>
  <dcterms:modified xsi:type="dcterms:W3CDTF">2025-02-17T14:31:09Z</dcterms:modified>
</cp:coreProperties>
</file>